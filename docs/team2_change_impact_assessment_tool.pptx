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Untargeted rollout</c:v>
                </c:pt>
              </c:strCache>
            </c:strRef>
          </c:tx>
          <c:spPr>
            <a:ln w="28575">
              <a:solidFill>
                <a:srgbClr val="A3AFB8"/>
              </a:solidFill>
            </a:ln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100</c:v>
                </c:pt>
                <c:pt idx="1">
                  <c:v>86</c:v>
                </c:pt>
                <c:pt idx="2">
                  <c:v>79</c:v>
                </c:pt>
                <c:pt idx="3">
                  <c:v>78</c:v>
                </c:pt>
                <c:pt idx="4">
                  <c:v>81</c:v>
                </c:pt>
                <c:pt idx="5">
                  <c:v>86</c:v>
                </c:pt>
                <c:pt idx="6">
                  <c:v>90</c:v>
                </c:pt>
                <c:pt idx="7">
                  <c:v>94</c:v>
                </c:pt>
                <c:pt idx="8">
                  <c:v>98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Tool-targeted rollout</c:v>
                </c:pt>
              </c:strCache>
            </c:strRef>
          </c:tx>
          <c:spPr>
            <a:ln w="38100">
              <a:solidFill>
                <a:srgbClr val="0E7F9C"/>
              </a:solidFill>
            </a:ln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100</c:v>
                </c:pt>
                <c:pt idx="1">
                  <c:v>91</c:v>
                </c:pt>
                <c:pt idx="2">
                  <c:v>89</c:v>
                </c:pt>
                <c:pt idx="3">
                  <c:v>94</c:v>
                </c:pt>
                <c:pt idx="4">
                  <c:v>99</c:v>
                </c:pt>
                <c:pt idx="5">
                  <c:v>99</c:v>
                </c:pt>
                <c:pt idx="6">
                  <c:v>99</c:v>
                </c:pt>
                <c:pt idx="7">
                  <c:v>99</c:v>
                </c:pt>
                <c:pt idx="8">
                  <c:v>99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000" b="0">
                    <a:solidFill>
                      <a:srgbClr val="5B6670"/>
                    </a:solidFill>
                    <a:latin typeface="Arial"/>
                  </a:rPr>
                  <a:t>Weeks from go-live</a:t>
                </a:r>
              </a:p>
            </c:rich>
          </c:tx>
          <c:layout/>
          <c:overlay val="0"/>
        </c:title>
        <c:majorTickMark val="none"/>
        <c:minorTickMark val="none"/>
        <c:tickLblPos val="nextTo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950">
                <a:solidFill>
                  <a:srgbClr val="5B6670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2.0"/>
          <c:min val="70.0"/>
        </c:scaling>
        <c:delete val="0"/>
        <c:axPos val="l"/>
        <c:majorGridlines>
          <c:spPr>
            <a:ln w="9525">
              <a:solidFill>
                <a:srgbClr val="E6EBEF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B6670"/>
                    </a:solidFill>
                    <a:latin typeface="Arial"/>
                  </a:rPr>
                  <a:t>Productivity vs. baseline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950">
                <a:solidFill>
                  <a:srgbClr val="5B6670"/>
                </a:solidFill>
              </a:defRPr>
            </a:pPr>
          </a:p>
        </c:txPr>
        <c:crossAx val="2118791784"/>
        <c:crosses val="autoZero"/>
        <c:majorUnit val="10.0"/>
      </c:valAx>
    </c:plotArea>
    <c:legend>
      <c:legendPos val="b"/>
      <c:layout/>
      <c:overlay val="0"/>
      <c:txPr>
        <a:bodyPr/>
        <a:lstStyle/>
        <a:p>
          <a:pPr>
            <a:defRPr sz="1050">
              <a:solidFill>
                <a:srgbClr val="0F2C4C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5B667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0F2C4C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45720" y="-45720"/>
            <a:ext cx="12283135" cy="128016"/>
          </a:xfrm>
          <a:prstGeom prst="rect">
            <a:avLst/>
          </a:prstGeom>
          <a:solidFill>
            <a:srgbClr val="29B8D8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27632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cap="all" spc="120">
                <a:solidFill>
                  <a:srgbClr val="29B8D8"/>
                </a:solidFill>
                <a:latin typeface="Arial"/>
              </a:rPr>
              <a:t>AI Hackathon 2026  ·  Challenge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93392"/>
            <a:ext cx="10058400" cy="9144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Arial"/>
              </a:rPr>
              <a:t>Change Impact Assessment 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054096"/>
            <a:ext cx="2743200" cy="45720"/>
          </a:xfrm>
          <a:prstGeom prst="rect">
            <a:avLst/>
          </a:prstGeom>
          <a:solidFill>
            <a:srgbClr val="29B8D8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310128"/>
            <a:ext cx="9509760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D5E2EC"/>
                </a:solidFill>
                <a:latin typeface="Arial"/>
              </a:rPr>
              <a:t>Turning a 5,000-person ERP deployment into a targeted, costed adoption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24528"/>
            <a:ext cx="9509760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9B8D8"/>
                </a:solidFill>
                <a:latin typeface="Arial"/>
              </a:rPr>
              <a:t>Team 2 — Sarah Russell · Eptisam Ahmed · Harleen Arora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90288"/>
            <a:ext cx="9509760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DBD"/>
                </a:solidFill>
                <a:latin typeface="Arial"/>
              </a:rPr>
              <a:t>Aberdeen Advisors · August 12,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512064"/>
          </a:xfrm>
          <a:prstGeom prst="rect">
            <a:avLst/>
          </a:prstGeom>
          <a:noFill/>
        </p:spPr>
        <p:txBody>
          <a:bodyPr wrap="square" anchor="b" lIns="0" tIns="0" r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F2C4C"/>
                </a:solidFill>
                <a:latin typeface="Arial"/>
              </a:rPr>
              <a:t>Leadership knows the technology. They don’t know the people impact.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94415" cy="38404"/>
          </a:xfrm>
          <a:prstGeom prst="rect">
            <a:avLst/>
          </a:prstGeom>
          <a:solidFill>
            <a:srgbClr val="29B8D8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64224"/>
            <a:ext cx="457200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39B"/>
                </a:solidFill>
                <a:latin typeface="Arial"/>
              </a:rPr>
              <a:t>Aberdeen Advisors  |  Team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364224"/>
            <a:ext cx="182880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39B"/>
                </a:solidFill>
                <a:latin typeface="Arial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07008"/>
            <a:ext cx="5349240" cy="3520440"/>
          </a:xfrm>
          <a:prstGeom prst="roundRect">
            <a:avLst>
              <a:gd name="adj" fmla="val 1558"/>
            </a:avLst>
          </a:prstGeom>
          <a:solidFill>
            <a:srgbClr val="F2F4F6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07008"/>
            <a:ext cx="5349240" cy="475488"/>
          </a:xfrm>
          <a:prstGeom prst="rect">
            <a:avLst/>
          </a:prstGeom>
          <a:solidFill>
            <a:srgbClr val="0F2C4C"/>
          </a:solidFill>
          <a:ln>
            <a:noFill/>
          </a:ln>
          <a:effectLst/>
        </p:spPr>
        <p:txBody>
          <a:bodyPr rtlCol="0" anchor="ctr" wrap="square" lIns="182880" rIns="18288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cap="all" spc="120">
                <a:solidFill>
                  <a:srgbClr val="FFFFFF"/>
                </a:solidFill>
                <a:latin typeface="Arial"/>
              </a:rPr>
              <a:t>What is known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82496"/>
            <a:ext cx="5349240" cy="3044952"/>
          </a:xfrm>
          <a:prstGeom prst="roundRect">
            <a:avLst>
              <a:gd name="adj" fmla="val 2102"/>
            </a:avLst>
          </a:prstGeom>
          <a:noFill/>
          <a:ln>
            <a:noFill/>
          </a:ln>
          <a:effectLst/>
        </p:spPr>
        <p:txBody>
          <a:bodyPr rtlCol="0" anchor="ctr" wrap="square" lIns="274320" tIns="164592" rIns="274320" bIns="164592">
            <a:noAutofit/>
          </a:bodyPr>
          <a:lstStyle/>
          <a:p>
            <a:pPr algn="l" marL="155448" indent="-155448">
              <a:lnSpc>
                <a:spcPct val="110000"/>
              </a:lnSpc>
              <a:spcBef>
                <a:spcPts val="0"/>
              </a:spcBef>
              <a:spcAft>
                <a:spcPts val="1700"/>
              </a:spcAft>
              <a:buClr>
                <a:srgbClr val="1B5E8C"/>
              </a:buClr>
              <a:buChar char="•"/>
              <a:buFont typeface="Arial"/>
            </a:pPr>
            <a:r>
              <a:rPr sz="1350" b="0" i="0">
                <a:solidFill>
                  <a:srgbClr val="1F2933"/>
                </a:solidFill>
                <a:latin typeface="Arial"/>
              </a:rPr>
              <a:t>New operating model defined</a:t>
            </a:r>
          </a:p>
          <a:p>
            <a:pPr algn="l" marL="155448" indent="-155448">
              <a:lnSpc>
                <a:spcPct val="110000"/>
              </a:lnSpc>
              <a:spcBef>
                <a:spcPts val="0"/>
              </a:spcBef>
              <a:spcAft>
                <a:spcPts val="1700"/>
              </a:spcAft>
              <a:buClr>
                <a:srgbClr val="1B5E8C"/>
              </a:buClr>
              <a:buChar char="•"/>
              <a:buFont typeface="Arial"/>
            </a:pPr>
            <a:r>
              <a:rPr sz="1350" b="0" i="0">
                <a:solidFill>
                  <a:srgbClr val="1F2933"/>
                </a:solidFill>
                <a:latin typeface="Arial"/>
              </a:rPr>
              <a:t>ERP platform selected</a:t>
            </a:r>
          </a:p>
          <a:p>
            <a:pPr algn="l" marL="155448" indent="-155448">
              <a:lnSpc>
                <a:spcPct val="110000"/>
              </a:lnSpc>
              <a:spcBef>
                <a:spcPts val="0"/>
              </a:spcBef>
              <a:spcAft>
                <a:spcPts val="1700"/>
              </a:spcAft>
              <a:buClr>
                <a:srgbClr val="1B5E8C"/>
              </a:buClr>
              <a:buChar char="•"/>
              <a:buFont typeface="Arial"/>
            </a:pPr>
            <a:r>
              <a:rPr sz="1350" b="0" i="0">
                <a:solidFill>
                  <a:srgbClr val="1F2933"/>
                </a:solidFill>
                <a:latin typeface="Arial"/>
              </a:rPr>
              <a:t>Deployment sequence and go-live dates set</a:t>
            </a:r>
          </a:p>
          <a:p>
            <a:pPr algn="l" marL="155448" indent="-155448">
              <a:lnSpc>
                <a:spcPct val="110000"/>
              </a:lnSpc>
              <a:spcBef>
                <a:spcPts val="0"/>
              </a:spcBef>
              <a:spcAft>
                <a:spcPts val="1700"/>
              </a:spcAft>
              <a:buClr>
                <a:srgbClr val="1B5E8C"/>
              </a:buClr>
              <a:buChar char="•"/>
              <a:buFont typeface="Arial"/>
            </a:pPr>
            <a:r>
              <a:rPr sz="1350" b="0" i="0">
                <a:solidFill>
                  <a:srgbClr val="1F2933"/>
                </a:solidFill>
                <a:latin typeface="Arial"/>
              </a:rPr>
              <a:t>5,000 employees in scope across corporate and manufacturing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1071" y="1207008"/>
            <a:ext cx="534924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22225">
            <a:solidFill>
              <a:srgbClr val="29B8D8"/>
            </a:solidFill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91071" y="1207008"/>
            <a:ext cx="5349240" cy="475488"/>
          </a:xfrm>
          <a:prstGeom prst="rect">
            <a:avLst/>
          </a:prstGeom>
          <a:solidFill>
            <a:srgbClr val="29B8D8"/>
          </a:solidFill>
          <a:ln>
            <a:noFill/>
          </a:ln>
          <a:effectLst/>
        </p:spPr>
        <p:txBody>
          <a:bodyPr rtlCol="0" anchor="ctr" wrap="square" lIns="182880" rIns="18288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cap="all" spc="120">
                <a:solidFill>
                  <a:srgbClr val="0F2C4C"/>
                </a:solidFill>
                <a:latin typeface="Arial"/>
              </a:rPr>
              <a:t>What is unknown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1" y="1682496"/>
            <a:ext cx="5349240" cy="3044952"/>
          </a:xfrm>
          <a:prstGeom prst="roundRect">
            <a:avLst>
              <a:gd name="adj" fmla="val 2102"/>
            </a:avLst>
          </a:prstGeom>
          <a:noFill/>
          <a:ln>
            <a:noFill/>
          </a:ln>
          <a:effectLst/>
        </p:spPr>
        <p:txBody>
          <a:bodyPr rtlCol="0" anchor="ctr" wrap="square" lIns="274320" tIns="164592" rIns="274320" bIns="164592">
            <a:noAutofit/>
          </a:bodyPr>
          <a:lstStyle/>
          <a:p>
            <a:pPr algn="l" marL="155448" indent="-155448">
              <a:lnSpc>
                <a:spcPct val="110000"/>
              </a:lnSpc>
              <a:spcBef>
                <a:spcPts val="0"/>
              </a:spcBef>
              <a:spcAft>
                <a:spcPts val="1700"/>
              </a:spcAft>
              <a:buClr>
                <a:srgbClr val="29B8D8"/>
              </a:buClr>
              <a:buChar char="•"/>
              <a:buFont typeface="Arial"/>
            </a:pPr>
            <a:r>
              <a:rPr sz="1350" b="1" i="0">
                <a:solidFill>
                  <a:srgbClr val="0F2C4C"/>
                </a:solidFill>
                <a:latin typeface="Arial"/>
              </a:rPr>
              <a:t>Which roles actually change, and how much</a:t>
            </a:r>
          </a:p>
          <a:p>
            <a:pPr algn="l" marL="155448" indent="-155448">
              <a:lnSpc>
                <a:spcPct val="110000"/>
              </a:lnSpc>
              <a:spcBef>
                <a:spcPts val="0"/>
              </a:spcBef>
              <a:spcAft>
                <a:spcPts val="1700"/>
              </a:spcAft>
              <a:buClr>
                <a:srgbClr val="29B8D8"/>
              </a:buClr>
              <a:buChar char="•"/>
              <a:buFont typeface="Arial"/>
            </a:pPr>
            <a:r>
              <a:rPr sz="1350" b="1" i="0">
                <a:solidFill>
                  <a:srgbClr val="0F2C4C"/>
                </a:solidFill>
                <a:latin typeface="Arial"/>
              </a:rPr>
              <a:t>Where the capability gaps sit</a:t>
            </a:r>
          </a:p>
          <a:p>
            <a:pPr algn="l" marL="155448" indent="-155448">
              <a:lnSpc>
                <a:spcPct val="110000"/>
              </a:lnSpc>
              <a:spcBef>
                <a:spcPts val="0"/>
              </a:spcBef>
              <a:spcAft>
                <a:spcPts val="1700"/>
              </a:spcAft>
              <a:buClr>
                <a:srgbClr val="29B8D8"/>
              </a:buClr>
              <a:buChar char="•"/>
              <a:buFont typeface="Arial"/>
            </a:pPr>
            <a:r>
              <a:rPr sz="1350" b="1" i="0">
                <a:solidFill>
                  <a:srgbClr val="0F2C4C"/>
                </a:solidFill>
                <a:latin typeface="Arial"/>
              </a:rPr>
              <a:t>Where resistance will come from, and why</a:t>
            </a:r>
          </a:p>
          <a:p>
            <a:pPr algn="l" marL="155448" indent="-155448">
              <a:lnSpc>
                <a:spcPct val="110000"/>
              </a:lnSpc>
              <a:spcBef>
                <a:spcPts val="0"/>
              </a:spcBef>
              <a:spcAft>
                <a:spcPts val="1700"/>
              </a:spcAft>
              <a:buClr>
                <a:srgbClr val="29B8D8"/>
              </a:buClr>
              <a:buChar char="•"/>
              <a:buFont typeface="Arial"/>
            </a:pPr>
            <a:r>
              <a:rPr sz="1350" b="1" i="0">
                <a:solidFill>
                  <a:srgbClr val="0F2C4C"/>
                </a:solidFill>
                <a:latin typeface="Arial"/>
              </a:rPr>
              <a:t>Whether each site is ready to absorb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010912"/>
            <a:ext cx="11094415" cy="786384"/>
          </a:xfrm>
          <a:prstGeom prst="roundRect">
            <a:avLst>
              <a:gd name="adj" fmla="val 6976"/>
            </a:avLst>
          </a:prstGeom>
          <a:solidFill>
            <a:srgbClr val="F2F4F6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5010912"/>
            <a:ext cx="50292" cy="786384"/>
          </a:xfrm>
          <a:prstGeom prst="rect">
            <a:avLst/>
          </a:prstGeom>
          <a:solidFill>
            <a:srgbClr val="29B8D8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8932" y="5010912"/>
            <a:ext cx="11044123" cy="786384"/>
          </a:xfrm>
          <a:prstGeom prst="roundRect">
            <a:avLst>
              <a:gd name="adj" fmla="val 8139"/>
            </a:avLst>
          </a:prstGeom>
          <a:noFill/>
          <a:ln>
            <a:noFill/>
          </a:ln>
          <a:effectLst/>
        </p:spPr>
        <p:txBody>
          <a:bodyPr rtlCol="0" anchor="ctr" wrap="square" lIns="256032" tIns="54864" rIns="256032" bIns="5486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2C4C"/>
                </a:solidFill>
                <a:latin typeface="Arial"/>
              </a:rPr>
              <a:t>Every downstream decision</a:t>
            </a:r>
            <a:r>
              <a:rPr sz="1350" b="0" i="0">
                <a:solidFill>
                  <a:srgbClr val="1F2933"/>
                </a:solidFill>
                <a:latin typeface="Arial"/>
              </a:rPr>
              <a:t> — training spend, comms, hypercare staffing, go-live sequencing — </a:t>
            </a:r>
            <a:r>
              <a:rPr sz="1350" b="1" i="0">
                <a:solidFill>
                  <a:srgbClr val="0F2C4C"/>
                </a:solidFill>
                <a:latin typeface="Arial"/>
              </a:rPr>
              <a:t>depends on the unknown half.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512064"/>
          </a:xfrm>
          <a:prstGeom prst="rect">
            <a:avLst/>
          </a:prstGeom>
          <a:noFill/>
        </p:spPr>
        <p:txBody>
          <a:bodyPr wrap="square" anchor="b" lIns="0" tIns="0" r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F2C4C"/>
                </a:solidFill>
                <a:latin typeface="Arial"/>
              </a:rPr>
              <a:t>Why most change assessments fail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94415" cy="38404"/>
          </a:xfrm>
          <a:prstGeom prst="rect">
            <a:avLst/>
          </a:prstGeom>
          <a:solidFill>
            <a:srgbClr val="29B8D8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64224"/>
            <a:ext cx="457200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39B"/>
                </a:solidFill>
                <a:latin typeface="Arial"/>
              </a:rPr>
              <a:t>Aberdeen Advisors  |  Team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364224"/>
            <a:ext cx="182880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39B"/>
                </a:solidFill>
                <a:latin typeface="Arial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61872"/>
            <a:ext cx="3538728" cy="3127248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5875">
            <a:solidFill>
              <a:srgbClr val="DDE3E8"/>
            </a:solidFill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61872"/>
            <a:ext cx="3538728" cy="50292"/>
          </a:xfrm>
          <a:prstGeom prst="rect">
            <a:avLst/>
          </a:prstGeom>
          <a:solidFill>
            <a:srgbClr val="29B8D8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312163"/>
            <a:ext cx="3538728" cy="3076956"/>
          </a:xfrm>
          <a:prstGeom prst="roundRect">
            <a:avLst>
              <a:gd name="adj" fmla="val 2080"/>
            </a:avLst>
          </a:prstGeom>
          <a:noFill/>
          <a:ln>
            <a:noFill/>
          </a:ln>
          <a:effectLst/>
        </p:spPr>
        <p:txBody>
          <a:bodyPr rtlCol="0" anchor="t" wrap="square" lIns="237744" tIns="274320" rIns="237744" bIns="164592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 i="0">
                <a:solidFill>
                  <a:srgbClr val="C6D3DC"/>
                </a:solidFill>
                <a:latin typeface="Arial"/>
              </a:rPr>
              <a:t>01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0F2C4C"/>
                </a:solidFill>
                <a:latin typeface="Arial"/>
              </a:rPr>
              <a:t>Assessed at function level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" y="3090672"/>
            <a:ext cx="3063240" cy="20116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3218688"/>
            <a:ext cx="3538728" cy="1115567"/>
          </a:xfrm>
          <a:prstGeom prst="roundRect">
            <a:avLst>
              <a:gd name="adj" fmla="val 5737"/>
            </a:avLst>
          </a:prstGeom>
          <a:noFill/>
          <a:ln>
            <a:noFill/>
          </a:ln>
          <a:effectLst/>
        </p:spPr>
        <p:txBody>
          <a:bodyPr rtlCol="0" anchor="t" wrap="square" lIns="237744" tIns="0" rIns="237744" bIns="73152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 cap="all" spc="120">
                <a:solidFill>
                  <a:srgbClr val="0E7F9C"/>
                </a:solidFill>
                <a:latin typeface="Arial"/>
              </a:rPr>
              <a:t>Consequence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670"/>
                </a:solidFill>
                <a:latin typeface="Arial"/>
              </a:rPr>
              <a:t>“Finance is highly impacted” funds nothing and trains no 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1261872"/>
            <a:ext cx="3538728" cy="3127248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5875">
            <a:solidFill>
              <a:srgbClr val="DDE3E8"/>
            </a:solidFill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5112" y="1261872"/>
            <a:ext cx="3538728" cy="50292"/>
          </a:xfrm>
          <a:prstGeom prst="rect">
            <a:avLst/>
          </a:prstGeom>
          <a:solidFill>
            <a:srgbClr val="29B8D8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25112" y="1312163"/>
            <a:ext cx="3538728" cy="3076956"/>
          </a:xfrm>
          <a:prstGeom prst="roundRect">
            <a:avLst>
              <a:gd name="adj" fmla="val 2080"/>
            </a:avLst>
          </a:prstGeom>
          <a:noFill/>
          <a:ln>
            <a:noFill/>
          </a:ln>
          <a:effectLst/>
        </p:spPr>
        <p:txBody>
          <a:bodyPr rtlCol="0" anchor="t" wrap="square" lIns="237744" tIns="274320" rIns="237744" bIns="164592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 i="0">
                <a:solidFill>
                  <a:srgbClr val="C6D3DC"/>
                </a:solidFill>
                <a:latin typeface="Arial"/>
              </a:rPr>
              <a:t>02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0F2C4C"/>
                </a:solidFill>
                <a:latin typeface="Arial"/>
              </a:rPr>
              <a:t>Impact scored on one axis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62855" y="3090672"/>
            <a:ext cx="3063240" cy="20116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25112" y="3218688"/>
            <a:ext cx="3538728" cy="1115567"/>
          </a:xfrm>
          <a:prstGeom prst="roundRect">
            <a:avLst>
              <a:gd name="adj" fmla="val 5737"/>
            </a:avLst>
          </a:prstGeom>
          <a:noFill/>
          <a:ln>
            <a:noFill/>
          </a:ln>
          <a:effectLst/>
        </p:spPr>
        <p:txBody>
          <a:bodyPr rtlCol="0" anchor="t" wrap="square" lIns="237744" tIns="0" rIns="237744" bIns="73152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 cap="all" spc="120">
                <a:solidFill>
                  <a:srgbClr val="0E7F9C"/>
                </a:solidFill>
                <a:latin typeface="Arial"/>
              </a:rPr>
              <a:t>Consequence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670"/>
                </a:solidFill>
                <a:latin typeface="Arial"/>
              </a:rPr>
              <a:t>Ranks roles but never says what to do about them.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1261872"/>
            <a:ext cx="3538728" cy="3127248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5875">
            <a:solidFill>
              <a:srgbClr val="DDE3E8"/>
            </a:solidFill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01583" y="1261872"/>
            <a:ext cx="3538728" cy="50292"/>
          </a:xfrm>
          <a:prstGeom prst="rect">
            <a:avLst/>
          </a:prstGeom>
          <a:solidFill>
            <a:srgbClr val="29B8D8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01583" y="1312163"/>
            <a:ext cx="3538728" cy="3076956"/>
          </a:xfrm>
          <a:prstGeom prst="roundRect">
            <a:avLst>
              <a:gd name="adj" fmla="val 2080"/>
            </a:avLst>
          </a:prstGeom>
          <a:noFill/>
          <a:ln>
            <a:noFill/>
          </a:ln>
          <a:effectLst/>
        </p:spPr>
        <p:txBody>
          <a:bodyPr rtlCol="0" anchor="t" wrap="square" lIns="237744" tIns="274320" rIns="237744" bIns="164592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 i="0">
                <a:solidFill>
                  <a:srgbClr val="C6D3DC"/>
                </a:solidFill>
                <a:latin typeface="Arial"/>
              </a:rPr>
              <a:t>03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0F2C4C"/>
                </a:solidFill>
                <a:latin typeface="Arial"/>
              </a:rPr>
              <a:t>Assessment disconnected from intervention design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39327" y="3090672"/>
            <a:ext cx="3063240" cy="20116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01583" y="3218688"/>
            <a:ext cx="3538728" cy="1115567"/>
          </a:xfrm>
          <a:prstGeom prst="roundRect">
            <a:avLst>
              <a:gd name="adj" fmla="val 5737"/>
            </a:avLst>
          </a:prstGeom>
          <a:noFill/>
          <a:ln>
            <a:noFill/>
          </a:ln>
          <a:effectLst/>
        </p:spPr>
        <p:txBody>
          <a:bodyPr rtlCol="0" anchor="t" wrap="square" lIns="237744" tIns="0" rIns="237744" bIns="73152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 cap="all" spc="120">
                <a:solidFill>
                  <a:srgbClr val="0E7F9C"/>
                </a:solidFill>
                <a:latin typeface="Arial"/>
              </a:rPr>
              <a:t>Consequence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670"/>
                </a:solidFill>
                <a:latin typeface="Arial"/>
              </a:rPr>
              <a:t>Training is built from the system’s module list, not from what the work becomes.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846320"/>
            <a:ext cx="11094415" cy="841248"/>
          </a:xfrm>
          <a:prstGeom prst="roundRect">
            <a:avLst>
              <a:gd name="adj" fmla="val 6521"/>
            </a:avLst>
          </a:prstGeom>
          <a:solidFill>
            <a:srgbClr val="0F2C4C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4846320"/>
            <a:ext cx="11094415" cy="841248"/>
          </a:xfrm>
          <a:prstGeom prst="roundRect">
            <a:avLst>
              <a:gd name="adj" fmla="val 7608"/>
            </a:avLst>
          </a:prstGeom>
          <a:noFill/>
          <a:ln>
            <a:noFill/>
          </a:ln>
          <a:effectLst/>
        </p:spPr>
        <p:txBody>
          <a:bodyPr rtlCol="0" anchor="ctr" wrap="square" lIns="274320" tIns="54864" rIns="274320" bIns="54864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9B8D8"/>
                </a:solidFill>
                <a:latin typeface="Arial"/>
              </a:rPr>
              <a:t>The output has to be a plan, not a heat map.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512064"/>
          </a:xfrm>
          <a:prstGeom prst="rect">
            <a:avLst/>
          </a:prstGeom>
          <a:noFill/>
        </p:spPr>
        <p:txBody>
          <a:bodyPr wrap="square" anchor="b" lIns="0" tIns="0" r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F2C4C"/>
                </a:solidFill>
                <a:latin typeface="Arial"/>
              </a:rPr>
              <a:t>Our answer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94415" cy="38404"/>
          </a:xfrm>
          <a:prstGeom prst="rect">
            <a:avLst/>
          </a:prstGeom>
          <a:solidFill>
            <a:srgbClr val="29B8D8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64224"/>
            <a:ext cx="457200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39B"/>
                </a:solidFill>
                <a:latin typeface="Arial"/>
              </a:rPr>
              <a:t>Aberdeen Advisors  |  Team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364224"/>
            <a:ext cx="182880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39B"/>
                </a:solidFill>
                <a:latin typeface="Arial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43584"/>
            <a:ext cx="10607040" cy="27889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C4C"/>
                </a:solidFill>
                <a:latin typeface="Arial"/>
              </a:rPr>
              <a:t>We turn </a:t>
            </a:r>
            <a:r>
              <a:rPr sz="2500" b="1" i="0">
                <a:solidFill>
                  <a:srgbClr val="5B6670"/>
                </a:solidFill>
                <a:latin typeface="Arial"/>
              </a:rPr>
              <a:t>“we are deploying ERP to 5,000 people”</a:t>
            </a:r>
            <a:r>
              <a:rPr sz="2500" b="1" i="0">
                <a:solidFill>
                  <a:srgbClr val="0F2C4C"/>
                </a:solidFill>
                <a:latin typeface="Arial"/>
              </a:rPr>
              <a:t> into </a:t>
            </a:r>
            <a:r>
              <a:rPr sz="2500" b="1" i="0">
                <a:solidFill>
                  <a:srgbClr val="0F2C4C"/>
                </a:solidFill>
                <a:latin typeface="Arial"/>
              </a:rPr>
              <a:t>“these </a:t>
            </a:r>
            <a:r>
              <a:rPr sz="2500" b="1" i="0">
                <a:solidFill>
                  <a:srgbClr val="0E7F9C"/>
                </a:solidFill>
                <a:latin typeface="Arial"/>
              </a:rPr>
              <a:t>620 people</a:t>
            </a:r>
            <a:r>
              <a:rPr sz="2500" b="1" i="0">
                <a:solidFill>
                  <a:srgbClr val="0F2C4C"/>
                </a:solidFill>
                <a:latin typeface="Arial"/>
              </a:rPr>
              <a:t>, in these </a:t>
            </a:r>
            <a:r>
              <a:rPr sz="2500" b="1" i="0">
                <a:solidFill>
                  <a:srgbClr val="0E7F9C"/>
                </a:solidFill>
                <a:latin typeface="Arial"/>
              </a:rPr>
              <a:t>9 roles</a:t>
            </a:r>
            <a:r>
              <a:rPr sz="2500" b="1" i="0">
                <a:solidFill>
                  <a:srgbClr val="0F2C4C"/>
                </a:solidFill>
                <a:latin typeface="Arial"/>
              </a:rPr>
              <a:t>, at these </a:t>
            </a:r>
            <a:r>
              <a:rPr sz="2500" b="1" i="0">
                <a:solidFill>
                  <a:srgbClr val="0E7F9C"/>
                </a:solidFill>
                <a:latin typeface="Arial"/>
              </a:rPr>
              <a:t>3 sites</a:t>
            </a:r>
            <a:r>
              <a:rPr sz="2500" b="1" i="0">
                <a:solidFill>
                  <a:srgbClr val="0F2C4C"/>
                </a:solidFill>
                <a:latin typeface="Arial"/>
              </a:rPr>
              <a:t> will fail on day one — here is the intervention each one needs, and what it costs to skip it.”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5592927" y="4133087"/>
            <a:ext cx="1005840" cy="25603"/>
          </a:xfrm>
          <a:prstGeom prst="rect">
            <a:avLst/>
          </a:prstGeom>
          <a:solidFill>
            <a:srgbClr val="29B8D8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4279392"/>
            <a:ext cx="12191695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cap="all" spc="120">
                <a:solidFill>
                  <a:srgbClr val="0E7F9C"/>
                </a:solidFill>
                <a:latin typeface="Arial"/>
              </a:rPr>
              <a:t>The method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591" y="4700016"/>
            <a:ext cx="2395728" cy="914400"/>
          </a:xfrm>
          <a:prstGeom prst="roundRect">
            <a:avLst>
              <a:gd name="adj" fmla="val 7000"/>
            </a:avLst>
          </a:prstGeom>
          <a:solidFill>
            <a:srgbClr val="F2F4F6"/>
          </a:solidFill>
          <a:ln>
            <a:noFill/>
          </a:ln>
          <a:effectLst/>
        </p:spPr>
        <p:txBody>
          <a:bodyPr rtlCol="0" anchor="ctr" wrap="square" lIns="109728" tIns="73152" rIns="109728" bIns="73152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0F2C4C"/>
                </a:solidFill>
                <a:latin typeface="Arial"/>
              </a:rPr>
              <a:t>Identify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670"/>
                </a:solidFill>
                <a:latin typeface="Arial"/>
              </a:rPr>
              <a:t>roles, processes, sites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33191" y="5029200"/>
            <a:ext cx="219456" cy="256032"/>
          </a:xfrm>
          <a:prstGeom prst="rightArrow">
            <a:avLst/>
          </a:prstGeom>
          <a:solidFill>
            <a:srgbClr val="29B8D8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71519" y="4700016"/>
            <a:ext cx="2395728" cy="914400"/>
          </a:xfrm>
          <a:prstGeom prst="roundRect">
            <a:avLst>
              <a:gd name="adj" fmla="val 7000"/>
            </a:avLst>
          </a:prstGeom>
          <a:solidFill>
            <a:srgbClr val="E7F4F9"/>
          </a:solidFill>
          <a:ln>
            <a:noFill/>
          </a:ln>
          <a:effectLst/>
        </p:spPr>
        <p:txBody>
          <a:bodyPr rtlCol="0" anchor="ctr" wrap="square" lIns="109728" tIns="73152" rIns="109728" bIns="73152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0F2C4C"/>
                </a:solidFill>
                <a:latin typeface="Arial"/>
              </a:rPr>
              <a:t>Redesign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670"/>
                </a:solidFill>
                <a:latin typeface="Arial"/>
              </a:rPr>
              <a:t>the work that changes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86119" y="5029200"/>
            <a:ext cx="219456" cy="256032"/>
          </a:xfrm>
          <a:prstGeom prst="rightArrow">
            <a:avLst/>
          </a:prstGeom>
          <a:solidFill>
            <a:srgbClr val="29B8D8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24447" y="4700016"/>
            <a:ext cx="2395728" cy="914400"/>
          </a:xfrm>
          <a:prstGeom prst="roundRect">
            <a:avLst>
              <a:gd name="adj" fmla="val 7000"/>
            </a:avLst>
          </a:prstGeom>
          <a:solidFill>
            <a:srgbClr val="1B5E8C"/>
          </a:solidFill>
          <a:ln>
            <a:noFill/>
          </a:ln>
          <a:effectLst/>
        </p:spPr>
        <p:txBody>
          <a:bodyPr rtlCol="0" anchor="ctr" wrap="square" lIns="109728" tIns="73152" rIns="109728" bIns="73152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Prescribe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FD8E8"/>
                </a:solidFill>
                <a:latin typeface="Arial"/>
              </a:rPr>
              <a:t>the intervention package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839047" y="5029200"/>
            <a:ext cx="219456" cy="256032"/>
          </a:xfrm>
          <a:prstGeom prst="rightArrow">
            <a:avLst/>
          </a:prstGeom>
          <a:solidFill>
            <a:srgbClr val="29B8D8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77375" y="4700016"/>
            <a:ext cx="2395728" cy="914400"/>
          </a:xfrm>
          <a:prstGeom prst="roundRect">
            <a:avLst>
              <a:gd name="adj" fmla="val 7000"/>
            </a:avLst>
          </a:prstGeom>
          <a:solidFill>
            <a:srgbClr val="0F2C4C"/>
          </a:solidFill>
          <a:ln>
            <a:noFill/>
          </a:ln>
          <a:effectLst/>
        </p:spPr>
        <p:txBody>
          <a:bodyPr rtlCol="0" anchor="ctr" wrap="square" lIns="109728" tIns="73152" rIns="109728" bIns="73152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Cost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FD8E8"/>
                </a:solidFill>
                <a:latin typeface="Arial"/>
              </a:rPr>
              <a:t>the plan and the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512064"/>
          </a:xfrm>
          <a:prstGeom prst="rect">
            <a:avLst/>
          </a:prstGeom>
          <a:noFill/>
        </p:spPr>
        <p:txBody>
          <a:bodyPr wrap="square" anchor="b" lIns="0" tIns="0" r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F2C4C"/>
                </a:solidFill>
                <a:latin typeface="Arial"/>
              </a:rPr>
              <a:t>Role × Process × Site — the smallest unit that can carry a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94415" cy="38404"/>
          </a:xfrm>
          <a:prstGeom prst="rect">
            <a:avLst/>
          </a:prstGeom>
          <a:solidFill>
            <a:srgbClr val="29B8D8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64224"/>
            <a:ext cx="457200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39B"/>
                </a:solidFill>
                <a:latin typeface="Arial"/>
              </a:rPr>
              <a:t>Aberdeen Advisors  |  Team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364224"/>
            <a:ext cx="182880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39B"/>
                </a:solidFill>
                <a:latin typeface="Arial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298448" cy="1060704"/>
          </a:xfrm>
          <a:prstGeom prst="roundRect">
            <a:avLst>
              <a:gd name="adj" fmla="val 6034"/>
            </a:avLst>
          </a:prstGeom>
          <a:solidFill>
            <a:srgbClr val="0F2C4C"/>
          </a:solidFill>
          <a:ln>
            <a:noFill/>
          </a:ln>
          <a:effectLst/>
        </p:spPr>
        <p:txBody>
          <a:bodyPr rtlCol="0" anchor="ctr" wrap="square" lIns="45720" rIns="4572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240" y="1371600"/>
            <a:ext cx="5230368" cy="1060704"/>
          </a:xfrm>
          <a:prstGeom prst="roundRect">
            <a:avLst>
              <a:gd name="adj" fmla="val 6034"/>
            </a:avLst>
          </a:prstGeom>
          <a:solidFill>
            <a:srgbClr val="F2F4F6"/>
          </a:solidFill>
          <a:ln>
            <a:noFill/>
          </a:ln>
          <a:effectLst/>
        </p:spPr>
        <p:txBody>
          <a:bodyPr rtlCol="0" anchor="ctr" wrap="square" lIns="256032" tIns="73152" rIns="219456" bIns="73152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 spc="40">
                <a:solidFill>
                  <a:srgbClr val="0F2C4C"/>
                </a:solidFill>
                <a:latin typeface="Arial"/>
              </a:rPr>
              <a:t>Roles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670"/>
                </a:solidFill>
                <a:latin typeface="Arial"/>
              </a:rPr>
              <a:t>Corporate functions and plant operations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16352"/>
            <a:ext cx="1298448" cy="1060704"/>
          </a:xfrm>
          <a:prstGeom prst="roundRect">
            <a:avLst>
              <a:gd name="adj" fmla="val 6034"/>
            </a:avLst>
          </a:prstGeom>
          <a:solidFill>
            <a:srgbClr val="1B5E8C"/>
          </a:solidFill>
          <a:ln>
            <a:noFill/>
          </a:ln>
          <a:effectLst/>
        </p:spPr>
        <p:txBody>
          <a:bodyPr rtlCol="0" anchor="ctr" wrap="square" lIns="45720" rIns="4572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2816352"/>
            <a:ext cx="5230368" cy="1060704"/>
          </a:xfrm>
          <a:prstGeom prst="roundRect">
            <a:avLst>
              <a:gd name="adj" fmla="val 6034"/>
            </a:avLst>
          </a:prstGeom>
          <a:solidFill>
            <a:srgbClr val="F2F4F6"/>
          </a:solidFill>
          <a:ln>
            <a:noFill/>
          </a:ln>
          <a:effectLst/>
        </p:spPr>
        <p:txBody>
          <a:bodyPr rtlCol="0" anchor="ctr" wrap="square" lIns="256032" tIns="73152" rIns="219456" bIns="73152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 spc="40">
                <a:solidFill>
                  <a:srgbClr val="0F2C4C"/>
                </a:solidFill>
                <a:latin typeface="Arial"/>
              </a:rPr>
              <a:t>Processes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670"/>
                </a:solidFill>
                <a:latin typeface="Arial"/>
              </a:rPr>
              <a:t>ERP value streams, end to 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61104"/>
            <a:ext cx="1298448" cy="1060704"/>
          </a:xfrm>
          <a:prstGeom prst="roundRect">
            <a:avLst>
              <a:gd name="adj" fmla="val 6034"/>
            </a:avLst>
          </a:prstGeom>
          <a:solidFill>
            <a:srgbClr val="0E7F9C"/>
          </a:solidFill>
          <a:ln>
            <a:noFill/>
          </a:ln>
          <a:effectLst/>
        </p:spPr>
        <p:txBody>
          <a:bodyPr rtlCol="0" anchor="ctr" wrap="square" lIns="45720" rIns="4572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4261104"/>
            <a:ext cx="5230368" cy="1060704"/>
          </a:xfrm>
          <a:prstGeom prst="roundRect">
            <a:avLst>
              <a:gd name="adj" fmla="val 6034"/>
            </a:avLst>
          </a:prstGeom>
          <a:solidFill>
            <a:srgbClr val="F2F4F6"/>
          </a:solidFill>
          <a:ln>
            <a:noFill/>
          </a:ln>
          <a:effectLst/>
        </p:spPr>
        <p:txBody>
          <a:bodyPr rtlCol="0" anchor="ctr" wrap="square" lIns="256032" tIns="73152" rIns="219456" bIns="73152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 spc="40">
                <a:solidFill>
                  <a:srgbClr val="0F2C4C"/>
                </a:solidFill>
                <a:latin typeface="Arial"/>
              </a:rPr>
              <a:t>Site archetypes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670"/>
                </a:solidFill>
                <a:latin typeface="Arial"/>
              </a:rPr>
              <a:t>HQ · 6 plants · 2 DCs · field / commercial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79792" y="1371600"/>
            <a:ext cx="4160520" cy="3950207"/>
          </a:xfrm>
          <a:prstGeom prst="roundRect">
            <a:avLst>
              <a:gd name="adj" fmla="val 1388"/>
            </a:avLst>
          </a:prstGeom>
          <a:solidFill>
            <a:srgbClr val="FFFFFF"/>
          </a:solidFill>
          <a:ln w="22225">
            <a:solidFill>
              <a:srgbClr val="29B8D8"/>
            </a:solidFill>
          </a:ln>
          <a:effectLst/>
        </p:spPr>
        <p:txBody>
          <a:bodyPr rtlCol="0" anchor="ctr" wrap="square" lIns="310896" tIns="310896" rIns="310896" bIns="310896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1100" b="1" i="0" cap="all" spc="120">
                <a:solidFill>
                  <a:srgbClr val="0E7F9C"/>
                </a:solidFill>
                <a:latin typeface="Arial"/>
              </a:rPr>
              <a:t>Why this unit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 i="0">
                <a:solidFill>
                  <a:srgbClr val="0F2C4C"/>
                </a:solidFill>
                <a:latin typeface="Arial"/>
              </a:rPr>
              <a:t>It is the smallest thing that can own a training curriculum, a comms message, a super-user, and a named accountable manager.</a:t>
            </a:r>
          </a:p>
          <a:p>
            <a:pPr algn="l" marL="155448" indent="-155448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29B8D8"/>
              </a:buClr>
              <a:buChar char="•"/>
              <a:buFont typeface="Arial"/>
            </a:pPr>
            <a:r>
              <a:rPr sz="1300" b="0" i="0">
                <a:solidFill>
                  <a:srgbClr val="1F2933"/>
                </a:solidFill>
                <a:latin typeface="Arial"/>
              </a:rPr>
              <a:t>Function-level cannot.</a:t>
            </a:r>
          </a:p>
          <a:p>
            <a:pPr algn="l" marL="155448" indent="-15544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B8D8"/>
              </a:buClr>
              <a:buChar char="•"/>
              <a:buFont typeface="Arial"/>
            </a:pPr>
            <a:r>
              <a:rPr sz="1300" b="0" i="0">
                <a:solidFill>
                  <a:srgbClr val="1F2933"/>
                </a:solidFill>
                <a:latin typeface="Arial"/>
              </a:rPr>
              <a:t>Individual-level does not scale.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512064"/>
          </a:xfrm>
          <a:prstGeom prst="rect">
            <a:avLst/>
          </a:prstGeom>
          <a:noFill/>
        </p:spPr>
        <p:txBody>
          <a:bodyPr wrap="square" anchor="b" lIns="0" tIns="0" r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F2C4C"/>
                </a:solidFill>
                <a:latin typeface="Arial"/>
              </a:rPr>
              <a:t>The process spine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94415" cy="38404"/>
          </a:xfrm>
          <a:prstGeom prst="rect">
            <a:avLst/>
          </a:prstGeom>
          <a:solidFill>
            <a:srgbClr val="29B8D8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64224"/>
            <a:ext cx="457200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39B"/>
                </a:solidFill>
                <a:latin typeface="Arial"/>
              </a:rPr>
              <a:t>Aberdeen Advisors  |  Team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364224"/>
            <a:ext cx="182880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39B"/>
                </a:solidFill>
                <a:latin typeface="Arial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33856"/>
            <a:ext cx="7315200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cap="all" spc="120">
                <a:solidFill>
                  <a:srgbClr val="0E7F9C"/>
                </a:solidFill>
                <a:latin typeface="Arial"/>
              </a:rPr>
              <a:t>The five ERP value streams</a:t>
            </a:r>
          </a:p>
        </p:txBody>
      </p:sp>
      <p:sp>
        <p:nvSpPr>
          <p:cNvPr id="7" name="Pentagon 6"/>
          <p:cNvSpPr/>
          <p:nvPr/>
        </p:nvSpPr>
        <p:spPr>
          <a:xfrm>
            <a:off x="548640" y="1481328"/>
            <a:ext cx="2395728" cy="932688"/>
          </a:xfrm>
          <a:prstGeom prst="homePlate">
            <a:avLst>
              <a:gd name="adj" fmla="val 22000"/>
            </a:avLst>
          </a:prstGeom>
          <a:solidFill>
            <a:srgbClr val="0F2C4C"/>
          </a:solidFill>
          <a:ln>
            <a:noFill/>
          </a:ln>
          <a:effectLst/>
        </p:spPr>
        <p:txBody>
          <a:bodyPr rtlCol="0" anchor="ctr" wrap="square" lIns="310896" tIns="36576" rIns="274320" bIns="36576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Order-to-Cash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2697480"/>
            <a:ext cx="2084831" cy="1389888"/>
          </a:xfrm>
          <a:prstGeom prst="roundRect">
            <a:avLst>
              <a:gd name="adj" fmla="val 3947"/>
            </a:avLst>
          </a:prstGeom>
          <a:solidFill>
            <a:srgbClr val="F2F4F6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17904" y="2889504"/>
            <a:ext cx="566928" cy="25603"/>
          </a:xfrm>
          <a:prstGeom prst="rect">
            <a:avLst/>
          </a:prstGeom>
          <a:solidFill>
            <a:srgbClr val="29B8D8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3035808"/>
            <a:ext cx="2084831" cy="9601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1" i="0" cap="all" spc="120">
                <a:solidFill>
                  <a:srgbClr val="0E7F9C"/>
                </a:solidFill>
                <a:latin typeface="Arial"/>
              </a:rPr>
              <a:t>Most affected</a:t>
            </a: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933"/>
                </a:solidFill>
                <a:latin typeface="Arial"/>
              </a:rPr>
              <a:t>Customer service, order entry, commercial ops</a:t>
            </a:r>
          </a:p>
        </p:txBody>
      </p:sp>
      <p:sp>
        <p:nvSpPr>
          <p:cNvPr id="11" name="Chevron 10"/>
          <p:cNvSpPr/>
          <p:nvPr/>
        </p:nvSpPr>
        <p:spPr>
          <a:xfrm>
            <a:off x="2743200" y="1481328"/>
            <a:ext cx="2395728" cy="932688"/>
          </a:xfrm>
          <a:prstGeom prst="chevron">
            <a:avLst>
              <a:gd name="adj" fmla="val 22000"/>
            </a:avLst>
          </a:prstGeom>
          <a:solidFill>
            <a:srgbClr val="15456E"/>
          </a:solidFill>
          <a:ln>
            <a:noFill/>
          </a:ln>
          <a:effectLst/>
        </p:spPr>
        <p:txBody>
          <a:bodyPr rtlCol="0" anchor="ctr" wrap="square" lIns="310896" tIns="36576" rIns="274320" bIns="36576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Procure-to-Pay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53512" y="2697480"/>
            <a:ext cx="2084831" cy="1389888"/>
          </a:xfrm>
          <a:prstGeom prst="roundRect">
            <a:avLst>
              <a:gd name="adj" fmla="val 3947"/>
            </a:avLst>
          </a:prstGeom>
          <a:solidFill>
            <a:srgbClr val="F2F4F6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12463" y="2889504"/>
            <a:ext cx="566928" cy="25603"/>
          </a:xfrm>
          <a:prstGeom prst="rect">
            <a:avLst/>
          </a:prstGeom>
          <a:solidFill>
            <a:srgbClr val="29B8D8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53512" y="3035808"/>
            <a:ext cx="2084831" cy="9601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1" i="0" cap="all" spc="120">
                <a:solidFill>
                  <a:srgbClr val="0E7F9C"/>
                </a:solidFill>
                <a:latin typeface="Arial"/>
              </a:rPr>
              <a:t>Most affected</a:t>
            </a: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933"/>
                </a:solidFill>
                <a:latin typeface="Arial"/>
              </a:rPr>
              <a:t>Procurement, AP, plant buyers</a:t>
            </a:r>
          </a:p>
        </p:txBody>
      </p:sp>
      <p:sp>
        <p:nvSpPr>
          <p:cNvPr id="15" name="Chevron 14"/>
          <p:cNvSpPr/>
          <p:nvPr/>
        </p:nvSpPr>
        <p:spPr>
          <a:xfrm>
            <a:off x="4937759" y="1481328"/>
            <a:ext cx="2395728" cy="932688"/>
          </a:xfrm>
          <a:prstGeom prst="chevron">
            <a:avLst>
              <a:gd name="adj" fmla="val 22000"/>
            </a:avLst>
          </a:prstGeom>
          <a:solidFill>
            <a:srgbClr val="1B5E8C"/>
          </a:solidFill>
          <a:ln>
            <a:noFill/>
          </a:ln>
          <a:effectLst/>
        </p:spPr>
        <p:txBody>
          <a:bodyPr rtlCol="0" anchor="ctr" wrap="square" lIns="310896" tIns="36576" rIns="274320" bIns="36576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Plan-to-Produce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48071" y="2697480"/>
            <a:ext cx="2084831" cy="1389888"/>
          </a:xfrm>
          <a:prstGeom prst="roundRect">
            <a:avLst>
              <a:gd name="adj" fmla="val 3947"/>
            </a:avLst>
          </a:prstGeom>
          <a:solidFill>
            <a:srgbClr val="F2F4F6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07023" y="2889504"/>
            <a:ext cx="566928" cy="25603"/>
          </a:xfrm>
          <a:prstGeom prst="rect">
            <a:avLst/>
          </a:prstGeom>
          <a:solidFill>
            <a:srgbClr val="29B8D8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48071" y="3035808"/>
            <a:ext cx="2084831" cy="9601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1" i="0" cap="all" spc="120">
                <a:solidFill>
                  <a:srgbClr val="0E7F9C"/>
                </a:solidFill>
                <a:latin typeface="Arial"/>
              </a:rPr>
              <a:t>Most affected</a:t>
            </a: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933"/>
                </a:solidFill>
                <a:latin typeface="Arial"/>
              </a:rPr>
              <a:t>Planners, schedulers, warehouse, production leads</a:t>
            </a:r>
          </a:p>
        </p:txBody>
      </p:sp>
      <p:sp>
        <p:nvSpPr>
          <p:cNvPr id="19" name="Chevron 18"/>
          <p:cNvSpPr/>
          <p:nvPr/>
        </p:nvSpPr>
        <p:spPr>
          <a:xfrm>
            <a:off x="7132319" y="1481328"/>
            <a:ext cx="2395728" cy="932688"/>
          </a:xfrm>
          <a:prstGeom prst="chevron">
            <a:avLst>
              <a:gd name="adj" fmla="val 22000"/>
            </a:avLst>
          </a:prstGeom>
          <a:solidFill>
            <a:srgbClr val="227EA6"/>
          </a:solidFill>
          <a:ln>
            <a:noFill/>
          </a:ln>
          <a:effectLst/>
        </p:spPr>
        <p:txBody>
          <a:bodyPr rtlCol="0" anchor="ctr" wrap="square" lIns="310896" tIns="36576" rIns="274320" bIns="36576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Record-to-Report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42631" y="2697480"/>
            <a:ext cx="2084831" cy="1389888"/>
          </a:xfrm>
          <a:prstGeom prst="roundRect">
            <a:avLst>
              <a:gd name="adj" fmla="val 3947"/>
            </a:avLst>
          </a:prstGeom>
          <a:solidFill>
            <a:srgbClr val="F2F4F6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01583" y="2889504"/>
            <a:ext cx="566928" cy="25603"/>
          </a:xfrm>
          <a:prstGeom prst="rect">
            <a:avLst/>
          </a:prstGeom>
          <a:solidFill>
            <a:srgbClr val="29B8D8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42631" y="3035808"/>
            <a:ext cx="2084831" cy="9601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1" i="0" cap="all" spc="120">
                <a:solidFill>
                  <a:srgbClr val="0E7F9C"/>
                </a:solidFill>
                <a:latin typeface="Arial"/>
              </a:rPr>
              <a:t>Most affected</a:t>
            </a: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933"/>
                </a:solidFill>
                <a:latin typeface="Arial"/>
              </a:rPr>
              <a:t>Corporate and plant finance</a:t>
            </a:r>
          </a:p>
        </p:txBody>
      </p:sp>
      <p:sp>
        <p:nvSpPr>
          <p:cNvPr id="23" name="Chevron 22"/>
          <p:cNvSpPr/>
          <p:nvPr/>
        </p:nvSpPr>
        <p:spPr>
          <a:xfrm>
            <a:off x="9326880" y="1481328"/>
            <a:ext cx="2395728" cy="932688"/>
          </a:xfrm>
          <a:prstGeom prst="chevron">
            <a:avLst>
              <a:gd name="adj" fmla="val 22000"/>
            </a:avLst>
          </a:prstGeom>
          <a:solidFill>
            <a:srgbClr val="0E7F9C"/>
          </a:solidFill>
          <a:ln>
            <a:noFill/>
          </a:ln>
          <a:effectLst/>
        </p:spPr>
        <p:txBody>
          <a:bodyPr rtlCol="0" anchor="ctr" wrap="square" lIns="310896" tIns="36576" rIns="274320" bIns="36576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Hire-to-Retire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37192" y="2697480"/>
            <a:ext cx="2084831" cy="1389888"/>
          </a:xfrm>
          <a:prstGeom prst="roundRect">
            <a:avLst>
              <a:gd name="adj" fmla="val 3947"/>
            </a:avLst>
          </a:prstGeom>
          <a:solidFill>
            <a:srgbClr val="F2F4F6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296144" y="2889504"/>
            <a:ext cx="566928" cy="25603"/>
          </a:xfrm>
          <a:prstGeom prst="rect">
            <a:avLst/>
          </a:prstGeom>
          <a:solidFill>
            <a:srgbClr val="29B8D8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37192" y="3035808"/>
            <a:ext cx="2084831" cy="9601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1" i="0" cap="all" spc="120">
                <a:solidFill>
                  <a:srgbClr val="0E7F9C"/>
                </a:solidFill>
                <a:latin typeface="Arial"/>
              </a:rPr>
              <a:t>Most affected</a:t>
            </a: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933"/>
                </a:solidFill>
                <a:latin typeface="Arial"/>
              </a:rPr>
              <a:t>HR ops, plant supervisors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526280"/>
            <a:ext cx="11094415" cy="859536"/>
          </a:xfrm>
          <a:prstGeom prst="roundRect">
            <a:avLst>
              <a:gd name="adj" fmla="val 6382"/>
            </a:avLst>
          </a:prstGeom>
          <a:solidFill>
            <a:srgbClr val="F2F4F6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526280"/>
            <a:ext cx="50292" cy="859536"/>
          </a:xfrm>
          <a:prstGeom prst="rect">
            <a:avLst/>
          </a:prstGeom>
          <a:solidFill>
            <a:srgbClr val="29B8D8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98932" y="4526280"/>
            <a:ext cx="11044123" cy="859536"/>
          </a:xfrm>
          <a:prstGeom prst="roundRect">
            <a:avLst>
              <a:gd name="adj" fmla="val 7446"/>
            </a:avLst>
          </a:prstGeom>
          <a:noFill/>
          <a:ln>
            <a:noFill/>
          </a:ln>
          <a:effectLst/>
        </p:spPr>
        <p:txBody>
          <a:bodyPr rtlCol="0" anchor="ctr" wrap="square" lIns="274320" tIns="54864" rIns="274320" bIns="5486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2C4C"/>
                </a:solidFill>
                <a:latin typeface="Arial"/>
              </a:rPr>
              <a:t>Value streams, not modules</a:t>
            </a:r>
            <a:r>
              <a:rPr sz="1400" b="0" i="0">
                <a:solidFill>
                  <a:srgbClr val="1F2933"/>
                </a:solidFill>
                <a:latin typeface="Arial"/>
              </a:rPr>
              <a:t> — the assessment follows the work, not the software.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512064"/>
          </a:xfrm>
          <a:prstGeom prst="rect">
            <a:avLst/>
          </a:prstGeom>
          <a:noFill/>
        </p:spPr>
        <p:txBody>
          <a:bodyPr wrap="square" anchor="b" lIns="0" tIns="0" r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F2C4C"/>
                </a:solidFill>
                <a:latin typeface="Arial"/>
              </a:rPr>
              <a:t>The scoring model — two axes, not 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94415" cy="38404"/>
          </a:xfrm>
          <a:prstGeom prst="rect">
            <a:avLst/>
          </a:prstGeom>
          <a:solidFill>
            <a:srgbClr val="29B8D8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64224"/>
            <a:ext cx="457200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39B"/>
                </a:solidFill>
                <a:latin typeface="Arial"/>
              </a:rPr>
              <a:t>Aberdeen Advisors  |  Team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364224"/>
            <a:ext cx="182880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39B"/>
                </a:solidFill>
                <a:latin typeface="Arial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07008"/>
            <a:ext cx="5349240" cy="3090672"/>
          </a:xfrm>
          <a:prstGeom prst="roundRect">
            <a:avLst>
              <a:gd name="adj" fmla="val 1775"/>
            </a:avLst>
          </a:prstGeom>
          <a:solidFill>
            <a:srgbClr val="F2F4F6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07008"/>
            <a:ext cx="5349240" cy="658368"/>
          </a:xfrm>
          <a:prstGeom prst="rect">
            <a:avLst/>
          </a:prstGeom>
          <a:solidFill>
            <a:srgbClr val="0F2C4C"/>
          </a:solidFill>
          <a:ln>
            <a:noFill/>
          </a:ln>
          <a:effectLst/>
        </p:spPr>
        <p:txBody>
          <a:bodyPr rtlCol="0" anchor="ctr" wrap="square" lIns="182880" rIns="18288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cap="all" spc="120">
                <a:solidFill>
                  <a:srgbClr val="FFFFFF"/>
                </a:solidFill>
                <a:latin typeface="Arial"/>
              </a:rPr>
              <a:t>Impact severity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b="0" i="0">
                <a:solidFill>
                  <a:srgbClr val="C7D5E0"/>
                </a:solidFill>
                <a:latin typeface="Arial"/>
              </a:rPr>
              <a:t>How much the work changes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65376"/>
            <a:ext cx="5349240" cy="2432304"/>
          </a:xfrm>
          <a:prstGeom prst="roundRect">
            <a:avLst>
              <a:gd name="adj" fmla="val 2631"/>
            </a:avLst>
          </a:prstGeom>
          <a:noFill/>
          <a:ln>
            <a:noFill/>
          </a:ln>
          <a:effectLst/>
        </p:spPr>
        <p:txBody>
          <a:bodyPr rtlCol="0" anchor="ctr" wrap="square" lIns="274320" tIns="164592" rIns="274320" bIns="164592">
            <a:noAutofit/>
          </a:bodyPr>
          <a:lstStyle/>
          <a:p>
            <a:pPr algn="l" marL="155448" indent="-155448">
              <a:lnSpc>
                <a:spcPct val="116000"/>
              </a:lnSpc>
              <a:spcBef>
                <a:spcPts val="0"/>
              </a:spcBef>
              <a:spcAft>
                <a:spcPts val="1600"/>
              </a:spcAft>
              <a:buClr>
                <a:srgbClr val="29B8D8"/>
              </a:buClr>
              <a:buChar char="•"/>
              <a:buFont typeface="Arial"/>
            </a:pPr>
            <a:r>
              <a:rPr sz="1300" b="0" i="0">
                <a:solidFill>
                  <a:srgbClr val="1F2933"/>
                </a:solidFill>
                <a:latin typeface="Arial"/>
              </a:rPr>
              <a:t>Share of daily tasks changing</a:t>
            </a:r>
          </a:p>
          <a:p>
            <a:pPr algn="l" marL="155448" indent="-155448">
              <a:lnSpc>
                <a:spcPct val="116000"/>
              </a:lnSpc>
              <a:spcBef>
                <a:spcPts val="0"/>
              </a:spcBef>
              <a:spcAft>
                <a:spcPts val="1600"/>
              </a:spcAft>
              <a:buClr>
                <a:srgbClr val="29B8D8"/>
              </a:buClr>
              <a:buChar char="•"/>
              <a:buFont typeface="Arial"/>
            </a:pPr>
            <a:r>
              <a:rPr sz="1300" b="0" i="0">
                <a:solidFill>
                  <a:srgbClr val="1F2933"/>
                </a:solidFill>
                <a:latin typeface="Arial"/>
              </a:rPr>
              <a:t>Frequency and volume of the affected task</a:t>
            </a:r>
          </a:p>
          <a:p>
            <a:pPr algn="l" marL="155448" indent="-155448">
              <a:lnSpc>
                <a:spcPct val="116000"/>
              </a:lnSpc>
              <a:spcBef>
                <a:spcPts val="0"/>
              </a:spcBef>
              <a:spcAft>
                <a:spcPts val="1600"/>
              </a:spcAft>
              <a:buClr>
                <a:srgbClr val="29B8D8"/>
              </a:buClr>
              <a:buChar char="•"/>
              <a:buFont typeface="Arial"/>
            </a:pPr>
            <a:r>
              <a:rPr sz="1300" b="0" i="0">
                <a:solidFill>
                  <a:srgbClr val="1F2933"/>
                </a:solidFill>
                <a:latin typeface="Arial"/>
              </a:rPr>
              <a:t>Consequence of error — safety, financial control, service level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1071" y="1207008"/>
            <a:ext cx="5349240" cy="3090672"/>
          </a:xfrm>
          <a:prstGeom prst="roundRect">
            <a:avLst>
              <a:gd name="adj" fmla="val 1775"/>
            </a:avLst>
          </a:prstGeom>
          <a:solidFill>
            <a:srgbClr val="F2F4F6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91071" y="1207008"/>
            <a:ext cx="5349240" cy="658368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txBody>
          <a:bodyPr rtlCol="0" anchor="ctr" wrap="square" lIns="182880" rIns="18288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cap="all" spc="120">
                <a:solidFill>
                  <a:srgbClr val="FFFFFF"/>
                </a:solidFill>
                <a:latin typeface="Arial"/>
              </a:rPr>
              <a:t>Adoption risk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b="0" i="0">
                <a:solidFill>
                  <a:srgbClr val="C7D5E0"/>
                </a:solidFill>
                <a:latin typeface="Arial"/>
              </a:rPr>
              <a:t>How likely it is to fail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1" y="1865376"/>
            <a:ext cx="5349240" cy="2432304"/>
          </a:xfrm>
          <a:prstGeom prst="roundRect">
            <a:avLst>
              <a:gd name="adj" fmla="val 2631"/>
            </a:avLst>
          </a:prstGeom>
          <a:noFill/>
          <a:ln>
            <a:noFill/>
          </a:ln>
          <a:effectLst/>
        </p:spPr>
        <p:txBody>
          <a:bodyPr rtlCol="0" anchor="ctr" wrap="square" lIns="274320" tIns="164592" rIns="274320" bIns="164592">
            <a:noAutofit/>
          </a:bodyPr>
          <a:lstStyle/>
          <a:p>
            <a:pPr algn="l" marL="155448" indent="-155448">
              <a:lnSpc>
                <a:spcPct val="116000"/>
              </a:lnSpc>
              <a:spcBef>
                <a:spcPts val="0"/>
              </a:spcBef>
              <a:spcAft>
                <a:spcPts val="1600"/>
              </a:spcAft>
              <a:buClr>
                <a:srgbClr val="29B8D8"/>
              </a:buClr>
              <a:buChar char="•"/>
              <a:buFont typeface="Arial"/>
            </a:pPr>
            <a:r>
              <a:rPr sz="1300" b="0" i="0">
                <a:solidFill>
                  <a:srgbClr val="1F2933"/>
                </a:solidFill>
                <a:latin typeface="Arial"/>
              </a:rPr>
              <a:t>Capability delta — skill required vs. current</a:t>
            </a:r>
          </a:p>
          <a:p>
            <a:pPr algn="l" marL="155448" indent="-155448">
              <a:lnSpc>
                <a:spcPct val="116000"/>
              </a:lnSpc>
              <a:spcBef>
                <a:spcPts val="0"/>
              </a:spcBef>
              <a:spcAft>
                <a:spcPts val="1600"/>
              </a:spcAft>
              <a:buClr>
                <a:srgbClr val="29B8D8"/>
              </a:buClr>
              <a:buChar char="•"/>
              <a:buFont typeface="Arial"/>
            </a:pPr>
            <a:r>
              <a:rPr sz="1300" b="0" i="0">
                <a:solidFill>
                  <a:srgbClr val="1F2933"/>
                </a:solidFill>
                <a:latin typeface="Arial"/>
              </a:rPr>
              <a:t>Change in decision rights</a:t>
            </a:r>
          </a:p>
          <a:p>
            <a:pPr algn="l" marL="155448" indent="-155448">
              <a:lnSpc>
                <a:spcPct val="116000"/>
              </a:lnSpc>
              <a:spcBef>
                <a:spcPts val="0"/>
              </a:spcBef>
              <a:spcAft>
                <a:spcPts val="1600"/>
              </a:spcAft>
              <a:buClr>
                <a:srgbClr val="29B8D8"/>
              </a:buClr>
              <a:buChar char="•"/>
              <a:buFont typeface="Arial"/>
            </a:pPr>
            <a:r>
              <a:rPr sz="1300" b="0" i="0">
                <a:solidFill>
                  <a:srgbClr val="1F2933"/>
                </a:solidFill>
                <a:latin typeface="Arial"/>
              </a:rPr>
              <a:t>Local readiness — site leadership capacity, change fatigue, digital maturity, deskless access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26864"/>
            <a:ext cx="11094415" cy="1225296"/>
          </a:xfrm>
          <a:prstGeom prst="roundRect">
            <a:avLst>
              <a:gd name="adj" fmla="val 4477"/>
            </a:avLst>
          </a:prstGeom>
          <a:solidFill>
            <a:srgbClr val="29B8D8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4626864"/>
            <a:ext cx="11094415" cy="1225296"/>
          </a:xfrm>
          <a:prstGeom prst="roundRect">
            <a:avLst>
              <a:gd name="adj" fmla="val 5223"/>
            </a:avLst>
          </a:prstGeom>
          <a:noFill/>
          <a:ln>
            <a:noFill/>
          </a:ln>
          <a:effectLst/>
        </p:spPr>
        <p:txBody>
          <a:bodyPr rtlCol="0" anchor="ctr" wrap="square" lIns="329184" tIns="109728" rIns="329184" bIns="10972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 i="0" cap="all" spc="120">
                <a:solidFill>
                  <a:srgbClr val="042A3A"/>
                </a:solidFill>
                <a:latin typeface="Arial"/>
              </a:rPr>
              <a:t>The variable most assessments miss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F2C4C"/>
                </a:solidFill>
                <a:latin typeface="Arial"/>
              </a:rPr>
              <a:t>Decision rights.</a:t>
            </a:r>
            <a:r>
              <a:rPr sz="1450" b="0" i="0">
                <a:solidFill>
                  <a:srgbClr val="0F2C4C"/>
                </a:solidFill>
                <a:latin typeface="Arial"/>
              </a:rPr>
              <a:t> Resistance is rarely “the software is hard.” It is </a:t>
            </a:r>
            <a:r>
              <a:rPr sz="1450" b="1" i="0">
                <a:solidFill>
                  <a:srgbClr val="0F2C4C"/>
                </a:solidFill>
                <a:latin typeface="Arial"/>
              </a:rPr>
              <a:t>“I used to approve this, and now the system does.”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512064"/>
          </a:xfrm>
          <a:prstGeom prst="rect">
            <a:avLst/>
          </a:prstGeom>
          <a:noFill/>
        </p:spPr>
        <p:txBody>
          <a:bodyPr wrap="square" anchor="b" lIns="0" tIns="0" r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F2C4C"/>
                </a:solidFill>
                <a:latin typeface="Arial"/>
              </a:rPr>
              <a:t>From score to prescription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94415" cy="38404"/>
          </a:xfrm>
          <a:prstGeom prst="rect">
            <a:avLst/>
          </a:prstGeom>
          <a:solidFill>
            <a:srgbClr val="29B8D8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64224"/>
            <a:ext cx="457200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39B"/>
                </a:solidFill>
                <a:latin typeface="Arial"/>
              </a:rPr>
              <a:t>Aberdeen Advisors  |  Team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364224"/>
            <a:ext cx="182880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39B"/>
                </a:solidFill>
                <a:latin typeface="Arial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29968" y="1298448"/>
            <a:ext cx="2834640" cy="1920240"/>
          </a:xfrm>
          <a:prstGeom prst="roundRect">
            <a:avLst>
              <a:gd name="adj" fmla="val 2857"/>
            </a:avLst>
          </a:prstGeom>
          <a:solidFill>
            <a:srgbClr val="1B5E8C"/>
          </a:solidFill>
          <a:ln>
            <a:noFill/>
          </a:ln>
          <a:effectLst/>
        </p:spPr>
        <p:txBody>
          <a:bodyPr rtlCol="0" anchor="t" wrap="square" lIns="219456" tIns="201168" rIns="219456" bIns="164592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 spc="60">
                <a:solidFill>
                  <a:srgbClr val="FFFFFF"/>
                </a:solidFill>
                <a:latin typeface="Arial"/>
              </a:rPr>
              <a:t>Enable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DFEC"/>
                </a:solidFill>
                <a:latin typeface="Arial"/>
              </a:rPr>
              <a:t>Role-based training · job aids · recruit as champions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47488" y="1298448"/>
            <a:ext cx="2834640" cy="1920240"/>
          </a:xfrm>
          <a:prstGeom prst="roundRect">
            <a:avLst>
              <a:gd name="adj" fmla="val 2857"/>
            </a:avLst>
          </a:prstGeom>
          <a:solidFill>
            <a:srgbClr val="0F2C4C"/>
          </a:solidFill>
          <a:ln>
            <a:noFill/>
          </a:ln>
          <a:effectLst/>
        </p:spPr>
        <p:txBody>
          <a:bodyPr rtlCol="0" anchor="t" wrap="square" lIns="219456" tIns="201168" rIns="219456" bIns="164592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 spc="60">
                <a:solidFill>
                  <a:srgbClr val="FFFFFF"/>
                </a:solidFill>
                <a:latin typeface="Arial"/>
              </a:rPr>
              <a:t>Rebuild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DFEC"/>
                </a:solidFill>
                <a:latin typeface="Arial"/>
              </a:rPr>
              <a:t>Role redesign · sandbox training · on-site super-user · manager coaching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29968" y="3401568"/>
            <a:ext cx="2834640" cy="1920240"/>
          </a:xfrm>
          <a:prstGeom prst="roundRect">
            <a:avLst>
              <a:gd name="adj" fmla="val 2857"/>
            </a:avLst>
          </a:prstGeom>
          <a:solidFill>
            <a:srgbClr val="F2F4F6"/>
          </a:solidFill>
          <a:ln>
            <a:noFill/>
          </a:ln>
          <a:effectLst/>
        </p:spPr>
        <p:txBody>
          <a:bodyPr rtlCol="0" anchor="t" wrap="square" lIns="219456" tIns="201168" rIns="219456" bIns="164592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 spc="60">
                <a:solidFill>
                  <a:srgbClr val="0F2C4C"/>
                </a:solidFill>
                <a:latin typeface="Arial"/>
              </a:rPr>
              <a:t>Inform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670"/>
                </a:solidFill>
                <a:latin typeface="Arial"/>
              </a:rPr>
              <a:t>Broadcast comms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7488" y="3401568"/>
            <a:ext cx="2834640" cy="1920240"/>
          </a:xfrm>
          <a:prstGeom prst="roundRect">
            <a:avLst>
              <a:gd name="adj" fmla="val 2857"/>
            </a:avLst>
          </a:prstGeom>
          <a:solidFill>
            <a:srgbClr val="29B8D8"/>
          </a:solidFill>
          <a:ln>
            <a:noFill/>
          </a:ln>
          <a:effectLst/>
        </p:spPr>
        <p:txBody>
          <a:bodyPr rtlCol="0" anchor="t" wrap="square" lIns="219456" tIns="201168" rIns="219456" bIns="164592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 spc="60">
                <a:solidFill>
                  <a:srgbClr val="0F2C4C"/>
                </a:solidFill>
                <a:latin typeface="Arial"/>
              </a:rPr>
              <a:t>Reassure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A4B5E"/>
                </a:solidFill>
                <a:latin typeface="Arial"/>
              </a:rPr>
              <a:t>Manager cascade · address the fear, not the skill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7088" y="1243584"/>
            <a:ext cx="25603" cy="4133088"/>
          </a:xfrm>
          <a:prstGeom prst="rect">
            <a:avLst/>
          </a:prstGeom>
          <a:solidFill>
            <a:srgbClr val="0F2C4C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47088" y="5486400"/>
            <a:ext cx="6035039" cy="25603"/>
          </a:xfrm>
          <a:prstGeom prst="rect">
            <a:avLst/>
          </a:prstGeom>
          <a:solidFill>
            <a:srgbClr val="0F2C4C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>
            <a:off x="1805940" y="1078992"/>
            <a:ext cx="107899" cy="173736"/>
          </a:xfrm>
          <a:prstGeom prst="triangle">
            <a:avLst/>
          </a:prstGeom>
          <a:solidFill>
            <a:srgbClr val="0F2C4C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5400000">
            <a:off x="7900415" y="5445252"/>
            <a:ext cx="173736" cy="107899"/>
          </a:xfrm>
          <a:prstGeom prst="triangle">
            <a:avLst/>
          </a:prstGeom>
          <a:solidFill>
            <a:srgbClr val="0F2C4C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1298448"/>
            <a:ext cx="777240" cy="4023360"/>
          </a:xfrm>
          <a:prstGeom prst="rect">
            <a:avLst/>
          </a:prstGeom>
          <a:noFill/>
        </p:spPr>
        <p:txBody>
          <a:bodyPr wrap="square" anchor="ctr" lIns="0" tIns="0" rIns="0" bIns="0" vert="vert27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cap="all" spc="120">
                <a:solidFill>
                  <a:srgbClr val="0F2C4C"/>
                </a:solidFill>
                <a:latin typeface="Arial"/>
              </a:rPr>
              <a:t>Impact severity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29968" y="5596128"/>
            <a:ext cx="5852159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cap="all" spc="120">
                <a:solidFill>
                  <a:srgbClr val="0F2C4C"/>
                </a:solidFill>
                <a:latin typeface="Arial"/>
              </a:rPr>
              <a:t>Adoption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5340096"/>
            <a:ext cx="45720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39B"/>
                </a:solidFill>
                <a:latin typeface="Arial"/>
              </a:rPr>
              <a:t>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1225295"/>
            <a:ext cx="45720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39B"/>
                </a:solidFill>
                <a:latin typeface="Arial"/>
              </a:rPr>
              <a:t>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596128"/>
            <a:ext cx="45720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39B"/>
                </a:solidFill>
                <a:latin typeface="Arial"/>
              </a:rP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43215" y="5596128"/>
            <a:ext cx="45720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39B"/>
                </a:solidFill>
                <a:latin typeface="Arial"/>
              </a:rPr>
              <a:t>High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1298448"/>
            <a:ext cx="3364992" cy="4023360"/>
          </a:xfrm>
          <a:prstGeom prst="roundRect">
            <a:avLst>
              <a:gd name="adj" fmla="val 1630"/>
            </a:avLst>
          </a:prstGeom>
          <a:solidFill>
            <a:srgbClr val="F2F4F6"/>
          </a:solidFill>
          <a:ln>
            <a:noFill/>
          </a:ln>
          <a:effectLst/>
        </p:spPr>
        <p:txBody>
          <a:bodyPr rtlCol="0" anchor="ctr" wrap="square" lIns="292608" tIns="274320" rIns="292608" bIns="27432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1000" b="1" i="0" cap="all" spc="120">
                <a:solidFill>
                  <a:srgbClr val="0E7F9C"/>
                </a:solidFill>
                <a:latin typeface="Arial"/>
              </a:rPr>
              <a:t>What the quadrant does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5B6670"/>
                </a:solidFill>
                <a:latin typeface="Arial"/>
              </a:rPr>
              <a:t>The quadrant does not label the role.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2C4C"/>
                </a:solidFill>
                <a:latin typeface="Arial"/>
              </a:rPr>
              <a:t>It prescribes the intervention package — and its dose.</a:t>
            </a:r>
          </a:p>
          <a:p>
            <a:pPr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</a:pPr>
            <a:r>
              <a:rPr sz="1100" b="0" i="0">
                <a:solidFill>
                  <a:srgbClr val="5B6670"/>
                </a:solidFill>
                <a:latin typeface="Arial"/>
              </a:rPr>
              <a:t>Both axes scored 1–5. The threshold sits at 3.5.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512064"/>
          </a:xfrm>
          <a:prstGeom prst="rect">
            <a:avLst/>
          </a:prstGeom>
          <a:noFill/>
        </p:spPr>
        <p:txBody>
          <a:bodyPr wrap="square" anchor="b" lIns="0" tIns="0" r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F2C4C"/>
                </a:solidFill>
                <a:latin typeface="Arial"/>
              </a:rPr>
              <a:t>5,000 employees resolve into four intervention tiers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94415" cy="38404"/>
          </a:xfrm>
          <a:prstGeom prst="rect">
            <a:avLst/>
          </a:prstGeom>
          <a:solidFill>
            <a:srgbClr val="29B8D8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64224"/>
            <a:ext cx="457200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39B"/>
                </a:solidFill>
                <a:latin typeface="Arial"/>
              </a:rPr>
              <a:t>Aberdeen Advisors  |  Team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364224"/>
            <a:ext cx="182880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39B"/>
                </a:solidFill>
                <a:latin typeface="Arial"/>
              </a:rP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408176"/>
          <a:ext cx="10451592" cy="307238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03120"/>
                <a:gridCol w="1325880"/>
                <a:gridCol w="1554480"/>
                <a:gridCol w="2267712"/>
                <a:gridCol w="3200400"/>
              </a:tblGrid>
              <a:tr h="49377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 cap="all" spc="120">
                          <a:solidFill>
                            <a:srgbClr val="FFFFFF"/>
                          </a:solidFill>
                          <a:latin typeface="Arial"/>
                        </a:rPr>
                        <a:t>Tier</a:t>
                      </a:r>
                    </a:p>
                  </a:txBody>
                  <a:tcPr anchor="ctr" marL="100584" marT="27432" marR="100584" marB="27432">
                    <a:solidFill>
                      <a:srgbClr val="0F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 cap="all" spc="120">
                          <a:solidFill>
                            <a:srgbClr val="FFFFFF"/>
                          </a:solidFill>
                          <a:latin typeface="Arial"/>
                        </a:rPr>
                        <a:t>Roles</a:t>
                      </a:r>
                    </a:p>
                  </a:txBody>
                  <a:tcPr anchor="ctr" marL="100584" marT="27432" marR="100584" marB="27432">
                    <a:solidFill>
                      <a:srgbClr val="0F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 cap="all" spc="120">
                          <a:solidFill>
                            <a:srgbClr val="FFFFFF"/>
                          </a:solidFill>
                          <a:latin typeface="Arial"/>
                        </a:rPr>
                        <a:t>People</a:t>
                      </a:r>
                    </a:p>
                  </a:txBody>
                  <a:tcPr anchor="ctr" marL="100584" marT="27432" marR="100584" marB="27432">
                    <a:solidFill>
                      <a:srgbClr val="0F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 cap="all" spc="120">
                          <a:solidFill>
                            <a:srgbClr val="FFFFFF"/>
                          </a:solidFill>
                          <a:latin typeface="Arial"/>
                        </a:rPr>
                        <a:t>% of population</a:t>
                      </a:r>
                    </a:p>
                  </a:txBody>
                  <a:tcPr anchor="ctr" marL="100584" marT="27432" marR="100584" marB="27432">
                    <a:solidFill>
                      <a:srgbClr val="0F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 cap="all" spc="120">
                          <a:solidFill>
                            <a:srgbClr val="FFFFFF"/>
                          </a:solidFill>
                          <a:latin typeface="Arial"/>
                        </a:rPr>
                        <a:t>Share of change budget</a:t>
                      </a:r>
                    </a:p>
                  </a:txBody>
                  <a:tcPr anchor="ctr" marL="100584" marT="27432" marR="100584" marB="27432">
                    <a:solidFill>
                      <a:srgbClr val="0F2C4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2C4C"/>
                          </a:solidFill>
                          <a:latin typeface="Arial"/>
                        </a:rPr>
                        <a:t>Rebuild</a:t>
                      </a:r>
                    </a:p>
                  </a:txBody>
                  <a:tcPr anchor="ctr" marL="100584" marT="27432" marR="100584" marB="27432">
                    <a:lnB w="9525" cap="flat" cmpd="sng" algn="ctr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anchor="ctr" marL="100584" marT="27432" marR="100584" marB="27432">
                    <a:lnB w="9525" cap="flat" cmpd="sng" algn="ctr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</a:rPr>
                        <a:t>620</a:t>
                      </a:r>
                    </a:p>
                  </a:txBody>
                  <a:tcPr anchor="ctr" marL="100584" marT="27432" marR="100584" marB="27432">
                    <a:lnB w="9525" cap="flat" cmpd="sng" algn="ctr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</a:rPr>
                        <a:t>12%</a:t>
                      </a:r>
                    </a:p>
                  </a:txBody>
                  <a:tcPr anchor="ctr" marL="100584" marT="27432" marR="100584" marB="27432">
                    <a:lnB w="9525" cap="flat" cmpd="sng" algn="ctr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F2933"/>
                          </a:solidFill>
                          <a:latin typeface="Arial"/>
                        </a:rPr>
                        <a:t>55%</a:t>
                      </a:r>
                    </a:p>
                  </a:txBody>
                  <a:tcPr anchor="ctr" marL="100584" marT="27432" marR="100584" marB="27432">
                    <a:lnB w="9525" cap="flat" cmpd="sng" algn="ctr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5E8C"/>
                          </a:solidFill>
                          <a:latin typeface="Arial"/>
                        </a:rPr>
                        <a:t>Enable</a:t>
                      </a:r>
                    </a:p>
                  </a:txBody>
                  <a:tcPr anchor="ctr" marL="100584" marT="27432" marR="100584" marB="27432">
                    <a:lnB w="9525" cap="flat" cmpd="sng" algn="ctr">
                      <a:solidFill>
                        <a:srgbClr val="DDE3E8"/>
                      </a:solidFill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100584" marT="27432" marR="100584" marB="27432">
                    <a:lnB w="9525" cap="flat" cmpd="sng" algn="ctr">
                      <a:solidFill>
                        <a:srgbClr val="DDE3E8"/>
                      </a:solidFill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</a:rPr>
                        <a:t>1,180</a:t>
                      </a:r>
                    </a:p>
                  </a:txBody>
                  <a:tcPr anchor="ctr" marL="100584" marT="27432" marR="100584" marB="27432">
                    <a:lnB w="9525" cap="flat" cmpd="sng" algn="ctr">
                      <a:solidFill>
                        <a:srgbClr val="DDE3E8"/>
                      </a:solidFill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</a:rPr>
                        <a:t>24%</a:t>
                      </a:r>
                    </a:p>
                  </a:txBody>
                  <a:tcPr anchor="ctr" marL="100584" marT="27432" marR="100584" marB="27432">
                    <a:lnB w="9525" cap="flat" cmpd="sng" algn="ctr">
                      <a:solidFill>
                        <a:srgbClr val="DDE3E8"/>
                      </a:solidFill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F2933"/>
                          </a:solidFill>
                          <a:latin typeface="Arial"/>
                        </a:rPr>
                        <a:t>27%</a:t>
                      </a:r>
                    </a:p>
                  </a:txBody>
                  <a:tcPr anchor="ctr" marL="100584" marT="27432" marR="100584" marB="27432">
                    <a:lnB w="9525" cap="flat" cmpd="sng" algn="ctr">
                      <a:solidFill>
                        <a:srgbClr val="DDE3E8"/>
                      </a:solidFill>
                    </a:lnB>
                    <a:solidFill>
                      <a:srgbClr val="F7F9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E7F9C"/>
                          </a:solidFill>
                          <a:latin typeface="Arial"/>
                        </a:rPr>
                        <a:t>Reassure</a:t>
                      </a:r>
                    </a:p>
                  </a:txBody>
                  <a:tcPr anchor="ctr" marL="100584" marT="27432" marR="100584" marB="27432">
                    <a:lnB w="9525" cap="flat" cmpd="sng" algn="ctr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100584" marT="27432" marR="100584" marB="27432">
                    <a:lnB w="9525" cap="flat" cmpd="sng" algn="ctr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</a:rPr>
                        <a:t>1,340</a:t>
                      </a:r>
                    </a:p>
                  </a:txBody>
                  <a:tcPr anchor="ctr" marL="100584" marT="27432" marR="100584" marB="27432">
                    <a:lnB w="9525" cap="flat" cmpd="sng" algn="ctr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</a:rPr>
                        <a:t>27%</a:t>
                      </a:r>
                    </a:p>
                  </a:txBody>
                  <a:tcPr anchor="ctr" marL="100584" marT="27432" marR="100584" marB="27432">
                    <a:lnB w="9525" cap="flat" cmpd="sng" algn="ctr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F2933"/>
                          </a:solidFill>
                          <a:latin typeface="Arial"/>
                        </a:rPr>
                        <a:t>13%</a:t>
                      </a:r>
                    </a:p>
                  </a:txBody>
                  <a:tcPr anchor="ctr" marL="100584" marT="27432" marR="100584" marB="27432">
                    <a:lnB w="9525" cap="flat" cmpd="sng" algn="ctr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5B6670"/>
                          </a:solidFill>
                          <a:latin typeface="Arial"/>
                        </a:rPr>
                        <a:t>Inform</a:t>
                      </a:r>
                    </a:p>
                  </a:txBody>
                  <a:tcPr anchor="ctr" marL="100584" marT="27432" marR="100584" marB="27432">
                    <a:lnB w="9525" cap="flat" cmpd="sng" algn="ctr">
                      <a:solidFill>
                        <a:srgbClr val="DDE3E8"/>
                      </a:solidFill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100584" marT="27432" marR="100584" marB="27432">
                    <a:lnB w="9525" cap="flat" cmpd="sng" algn="ctr">
                      <a:solidFill>
                        <a:srgbClr val="DDE3E8"/>
                      </a:solidFill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</a:rPr>
                        <a:t>1,860</a:t>
                      </a:r>
                    </a:p>
                  </a:txBody>
                  <a:tcPr anchor="ctr" marL="100584" marT="27432" marR="100584" marB="27432">
                    <a:lnB w="9525" cap="flat" cmpd="sng" algn="ctr">
                      <a:solidFill>
                        <a:srgbClr val="DDE3E8"/>
                      </a:solidFill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</a:rPr>
                        <a:t>37%</a:t>
                      </a:r>
                    </a:p>
                  </a:txBody>
                  <a:tcPr anchor="ctr" marL="100584" marT="27432" marR="100584" marB="27432">
                    <a:lnB w="9525" cap="flat" cmpd="sng" algn="ctr">
                      <a:solidFill>
                        <a:srgbClr val="DDE3E8"/>
                      </a:solidFill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F2933"/>
                          </a:solidFill>
                          <a:latin typeface="Arial"/>
                        </a:rPr>
                        <a:t>5%</a:t>
                      </a:r>
                    </a:p>
                  </a:txBody>
                  <a:tcPr anchor="ctr" marL="100584" marT="27432" marR="100584" marB="27432">
                    <a:lnB w="9525" cap="flat" cmpd="sng" algn="ctr">
                      <a:solidFill>
                        <a:srgbClr val="DDE3E8"/>
                      </a:solidFill>
                    </a:lnB>
                    <a:solidFill>
                      <a:srgbClr val="F7F9F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2C4C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anchor="ctr" marL="100584" marT="27432" marR="100584" marB="27432">
                    <a:lnT w="15875" cap="flat" cmpd="sng" algn="ctr">
                      <a:solidFill>
                        <a:srgbClr val="0F2C4C"/>
                      </a:solidFill>
                    </a:lnT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2C4C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anchor="ctr" marL="100584" marT="27432" marR="100584" marB="27432">
                    <a:lnT w="15875" cap="flat" cmpd="sng" algn="ctr">
                      <a:solidFill>
                        <a:srgbClr val="0F2C4C"/>
                      </a:solidFill>
                    </a:lnT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2C4C"/>
                          </a:solidFill>
                          <a:latin typeface="Arial"/>
                        </a:rPr>
                        <a:t>5,000</a:t>
                      </a:r>
                    </a:p>
                  </a:txBody>
                  <a:tcPr anchor="ctr" marL="100584" marT="27432" marR="100584" marB="27432">
                    <a:lnT w="15875" cap="flat" cmpd="sng" algn="ctr">
                      <a:solidFill>
                        <a:srgbClr val="0F2C4C"/>
                      </a:solidFill>
                    </a:lnT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2C4C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anchor="ctr" marL="100584" marT="27432" marR="100584" marB="27432">
                    <a:lnT w="15875" cap="flat" cmpd="sng" algn="ctr">
                      <a:solidFill>
                        <a:srgbClr val="0F2C4C"/>
                      </a:solidFill>
                    </a:lnT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2C4C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anchor="ctr" marL="100584" marT="27432" marR="100584" marB="27432">
                    <a:lnT w="15875" cap="flat" cmpd="sng" algn="ctr">
                      <a:solidFill>
                        <a:srgbClr val="0F2C4C"/>
                      </a:solidFill>
                    </a:lnT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68680" y="4828032"/>
            <a:ext cx="10451592" cy="786384"/>
          </a:xfrm>
          <a:prstGeom prst="roundRect">
            <a:avLst>
              <a:gd name="adj" fmla="val 6976"/>
            </a:avLst>
          </a:prstGeom>
          <a:solidFill>
            <a:srgbClr val="F2F4F6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4828032"/>
            <a:ext cx="50292" cy="786384"/>
          </a:xfrm>
          <a:prstGeom prst="rect">
            <a:avLst/>
          </a:prstGeom>
          <a:solidFill>
            <a:srgbClr val="29B8D8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8971" y="4828032"/>
            <a:ext cx="10401300" cy="786384"/>
          </a:xfrm>
          <a:prstGeom prst="roundRect">
            <a:avLst>
              <a:gd name="adj" fmla="val 8139"/>
            </a:avLst>
          </a:prstGeom>
          <a:noFill/>
          <a:ln>
            <a:noFill/>
          </a:ln>
          <a:effectLst/>
        </p:spPr>
        <p:txBody>
          <a:bodyPr rtlCol="0" anchor="ctr" wrap="square" lIns="274320" tIns="54864" rIns="274320" bIns="5486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2C4C"/>
                </a:solidFill>
                <a:latin typeface="Arial"/>
              </a:rPr>
              <a:t>12% of the population absorbs 55% of the effort.</a:t>
            </a:r>
            <a:r>
              <a:rPr sz="1400" b="0" i="0">
                <a:solidFill>
                  <a:srgbClr val="1F2933"/>
                </a:solidFill>
                <a:latin typeface="Arial"/>
              </a:rPr>
              <a:t>  That concentration is the deliverable.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724144"/>
            <a:ext cx="548640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8A939B"/>
                </a:solidFill>
                <a:latin typeface="Arial"/>
              </a:rPr>
              <a:t>Illustrative figures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512064"/>
          </a:xfrm>
          <a:prstGeom prst="rect">
            <a:avLst/>
          </a:prstGeom>
          <a:noFill/>
        </p:spPr>
        <p:txBody>
          <a:bodyPr wrap="square" anchor="b" lIns="0" tIns="0" r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F2C4C"/>
                </a:solidFill>
                <a:latin typeface="Arial"/>
              </a:rPr>
              <a:t>Where the impact concentrates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94415" cy="38404"/>
          </a:xfrm>
          <a:prstGeom prst="rect">
            <a:avLst/>
          </a:prstGeom>
          <a:solidFill>
            <a:srgbClr val="29B8D8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64224"/>
            <a:ext cx="457200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39B"/>
                </a:solidFill>
                <a:latin typeface="Arial"/>
              </a:rPr>
              <a:t>Aberdeen Advisors  |  Team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364224"/>
            <a:ext cx="182880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39B"/>
                </a:solidFill>
                <a:latin typeface="Arial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91671" cy="36576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971800"/>
                <a:gridCol w="2084831"/>
                <a:gridCol w="868680"/>
                <a:gridCol w="914400"/>
                <a:gridCol w="1417320"/>
                <a:gridCol w="1417320"/>
                <a:gridCol w="1417320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 cap="all" spc="120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anchor="ctr" marL="82296" marT="27432" marR="82296" marB="27432">
                    <a:solidFill>
                      <a:srgbClr val="0F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 cap="all" spc="120">
                          <a:solidFill>
                            <a:srgbClr val="FFFFFF"/>
                          </a:solidFill>
                          <a:latin typeface="Arial"/>
                        </a:rPr>
                        <a:t>Value stream</a:t>
                      </a:r>
                    </a:p>
                  </a:txBody>
                  <a:tcPr anchor="ctr" marL="82296" marT="27432" marR="82296" marB="27432">
                    <a:solidFill>
                      <a:srgbClr val="0F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 cap="all" spc="120">
                          <a:solidFill>
                            <a:srgbClr val="FFFFFF"/>
                          </a:solidFill>
                          <a:latin typeface="Arial"/>
                        </a:rPr>
                        <a:t>People</a:t>
                      </a:r>
                    </a:p>
                  </a:txBody>
                  <a:tcPr anchor="ctr" marL="82296" marT="27432" marR="82296" marB="27432">
                    <a:solidFill>
                      <a:srgbClr val="0F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 cap="all" spc="120">
                          <a:solidFill>
                            <a:srgbClr val="FFFFFF"/>
                          </a:solidFill>
                          <a:latin typeface="Arial"/>
                        </a:rPr>
                        <a:t>Sites</a:t>
                      </a:r>
                    </a:p>
                  </a:txBody>
                  <a:tcPr anchor="ctr" marL="82296" marT="27432" marR="82296" marB="27432">
                    <a:solidFill>
                      <a:srgbClr val="0F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 cap="all" spc="120">
                          <a:solidFill>
                            <a:srgbClr val="FFFFFF"/>
                          </a:solidFill>
                          <a:latin typeface="Arial"/>
                        </a:rPr>
                        <a:t>Impact severity</a:t>
                      </a:r>
                    </a:p>
                  </a:txBody>
                  <a:tcPr anchor="ctr" marL="82296" marT="27432" marR="82296" marB="27432">
                    <a:solidFill>
                      <a:srgbClr val="0F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 cap="all" spc="120">
                          <a:solidFill>
                            <a:srgbClr val="FFFFFF"/>
                          </a:solidFill>
                          <a:latin typeface="Arial"/>
                        </a:rPr>
                        <a:t>Adoption risk</a:t>
                      </a:r>
                    </a:p>
                  </a:txBody>
                  <a:tcPr anchor="ctr" marL="82296" marT="27432" marR="82296" marB="27432">
                    <a:solidFill>
                      <a:srgbClr val="0F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 cap="all" spc="120">
                          <a:solidFill>
                            <a:srgbClr val="FFFFFF"/>
                          </a:solidFill>
                          <a:latin typeface="Arial"/>
                        </a:rPr>
                        <a:t>Tier</a:t>
                      </a:r>
                    </a:p>
                  </a:txBody>
                  <a:tcPr anchor="ctr" marL="82296" marT="27432" marR="82296" marB="27432">
                    <a:solidFill>
                      <a:srgbClr val="0F2C4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0F2C4C"/>
                          </a:solidFill>
                          <a:latin typeface="Arial"/>
                        </a:rPr>
                        <a:t>Plant Scheduler</a:t>
                      </a:r>
                    </a:p>
                  </a:txBody>
                  <a:tcPr anchor="ctr" marL="82296" marT="27432" marR="82296" marB="27432">
                    <a:lnB w="9525" cap="flat" cmpd="sng" algn="ctr">
                      <a:solidFill>
                        <a:srgbClr val="E6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2933"/>
                          </a:solidFill>
                          <a:latin typeface="Arial"/>
                        </a:rPr>
                        <a:t>Plan-to-Produce</a:t>
                      </a:r>
                    </a:p>
                  </a:txBody>
                  <a:tcPr anchor="ctr" marL="82296" marT="27432" marR="82296" marB="27432">
                    <a:lnB w="9525" cap="flat" cmpd="sng" algn="ctr">
                      <a:solidFill>
                        <a:srgbClr val="E6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2933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anchor="ctr" marL="82296" marT="27432" marR="82296" marB="27432">
                    <a:lnB w="9525" cap="flat" cmpd="sng" algn="ctr">
                      <a:solidFill>
                        <a:srgbClr val="E6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2933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 marL="82296" marT="27432" marR="82296" marB="27432">
                    <a:lnB w="9525" cap="flat" cmpd="sng" algn="ctr">
                      <a:solidFill>
                        <a:srgbClr val="E6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4.6</a:t>
                      </a:r>
                    </a:p>
                  </a:txBody>
                  <a:tcPr anchor="ctr" marL="54864" marT="27432" marR="54864" marB="27432">
                    <a:lnB w="9525" cap="flat" cmpd="sng" algn="ctr">
                      <a:solidFill>
                        <a:srgbClr val="E6EBEF"/>
                      </a:solidFill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4.4</a:t>
                      </a:r>
                    </a:p>
                  </a:txBody>
                  <a:tcPr anchor="ctr" marL="54864" marT="27432" marR="54864" marB="27432">
                    <a:lnB w="9525" cap="flat" cmpd="sng" algn="ctr">
                      <a:solidFill>
                        <a:srgbClr val="E6EBEF"/>
                      </a:solidFill>
                    </a:lnB>
                    <a:solidFill>
                      <a:srgbClr val="1B5E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0F2C4C"/>
                          </a:solidFill>
                          <a:latin typeface="Arial"/>
                        </a:rPr>
                        <a:t>Rebuild</a:t>
                      </a:r>
                    </a:p>
                  </a:txBody>
                  <a:tcPr anchor="ctr" marL="82296" marT="27432" marR="82296" marB="27432">
                    <a:lnB w="9525" cap="flat" cmpd="sng" algn="ctr">
                      <a:solidFill>
                        <a:srgbClr val="E6EB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0F2C4C"/>
                          </a:solidFill>
                          <a:latin typeface="Arial"/>
                        </a:rPr>
                        <a:t>Warehouse Team Lead</a:t>
                      </a:r>
                    </a:p>
                  </a:txBody>
                  <a:tcPr anchor="ctr" marL="82296" marT="27432" marR="82296" marB="27432">
                    <a:lnB w="9525" cap="flat" cmpd="sng" algn="ctr">
                      <a:solidFill>
                        <a:srgbClr val="E6EBEF"/>
                      </a:solidFill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2933"/>
                          </a:solidFill>
                          <a:latin typeface="Arial"/>
                        </a:rPr>
                        <a:t>Plan-to-Produce</a:t>
                      </a:r>
                    </a:p>
                  </a:txBody>
                  <a:tcPr anchor="ctr" marL="82296" marT="27432" marR="82296" marB="27432">
                    <a:lnB w="9525" cap="flat" cmpd="sng" algn="ctr">
                      <a:solidFill>
                        <a:srgbClr val="E6EBEF"/>
                      </a:solidFill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2933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anchor="ctr" marL="82296" marT="27432" marR="82296" marB="27432">
                    <a:lnB w="9525" cap="flat" cmpd="sng" algn="ctr">
                      <a:solidFill>
                        <a:srgbClr val="E6EBEF"/>
                      </a:solidFill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2933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anchor="ctr" marL="82296" marT="27432" marR="82296" marB="27432">
                    <a:lnB w="9525" cap="flat" cmpd="sng" algn="ctr">
                      <a:solidFill>
                        <a:srgbClr val="E6EBEF"/>
                      </a:solidFill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0F2C4C"/>
                          </a:solidFill>
                          <a:latin typeface="Arial"/>
                        </a:rPr>
                        <a:t>4.1</a:t>
                      </a:r>
                    </a:p>
                  </a:txBody>
                  <a:tcPr anchor="ctr" marL="54864" marT="27432" marR="54864" marB="27432">
                    <a:lnB w="9525" cap="flat" cmpd="sng" algn="ctr">
                      <a:solidFill>
                        <a:srgbClr val="E6EBEF"/>
                      </a:solidFill>
                    </a:lnB>
                    <a:solidFill>
                      <a:srgbClr val="4E9D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4.7</a:t>
                      </a:r>
                    </a:p>
                  </a:txBody>
                  <a:tcPr anchor="ctr" marL="54864" marT="27432" marR="54864" marB="27432">
                    <a:lnB w="9525" cap="flat" cmpd="sng" algn="ctr">
                      <a:solidFill>
                        <a:srgbClr val="E6EBEF"/>
                      </a:solidFill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0F2C4C"/>
                          </a:solidFill>
                          <a:latin typeface="Arial"/>
                        </a:rPr>
                        <a:t>Rebuild</a:t>
                      </a:r>
                    </a:p>
                  </a:txBody>
                  <a:tcPr anchor="ctr" marL="82296" marT="27432" marR="82296" marB="27432">
                    <a:lnB w="9525" cap="flat" cmpd="sng" algn="ctr">
                      <a:solidFill>
                        <a:srgbClr val="E6EBEF"/>
                      </a:solidFill>
                    </a:lnB>
                    <a:solidFill>
                      <a:srgbClr val="F7F9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0F2C4C"/>
                          </a:solidFill>
                          <a:latin typeface="Arial"/>
                        </a:rPr>
                        <a:t>AP Specialist</a:t>
                      </a:r>
                    </a:p>
                  </a:txBody>
                  <a:tcPr anchor="ctr" marL="82296" marT="27432" marR="82296" marB="27432">
                    <a:lnB w="9525" cap="flat" cmpd="sng" algn="ctr">
                      <a:solidFill>
                        <a:srgbClr val="E6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2933"/>
                          </a:solidFill>
                          <a:latin typeface="Arial"/>
                        </a:rPr>
                        <a:t>Procure-to-Pay</a:t>
                      </a:r>
                    </a:p>
                  </a:txBody>
                  <a:tcPr anchor="ctr" marL="82296" marT="27432" marR="82296" marB="27432">
                    <a:lnB w="9525" cap="flat" cmpd="sng" algn="ctr">
                      <a:solidFill>
                        <a:srgbClr val="E6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2933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anchor="ctr" marL="82296" marT="27432" marR="82296" marB="27432">
                    <a:lnB w="9525" cap="flat" cmpd="sng" algn="ctr">
                      <a:solidFill>
                        <a:srgbClr val="E6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2933"/>
                          </a:solidFill>
                          <a:latin typeface="Arial"/>
                        </a:rPr>
                        <a:t>HQ</a:t>
                      </a:r>
                    </a:p>
                  </a:txBody>
                  <a:tcPr anchor="ctr" marL="82296" marT="27432" marR="82296" marB="27432">
                    <a:lnB w="9525" cap="flat" cmpd="sng" algn="ctr">
                      <a:solidFill>
                        <a:srgbClr val="E6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4.4</a:t>
                      </a:r>
                    </a:p>
                  </a:txBody>
                  <a:tcPr anchor="ctr" marL="54864" marT="27432" marR="54864" marB="27432">
                    <a:lnB w="9525" cap="flat" cmpd="sng" algn="ctr">
                      <a:solidFill>
                        <a:srgbClr val="E6EBEF"/>
                      </a:solidFill>
                    </a:lnB>
                    <a:solidFill>
                      <a:srgbClr val="1B5E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4.5</a:t>
                      </a:r>
                    </a:p>
                  </a:txBody>
                  <a:tcPr anchor="ctr" marL="54864" marT="27432" marR="54864" marB="27432">
                    <a:lnB w="9525" cap="flat" cmpd="sng" algn="ctr">
                      <a:solidFill>
                        <a:srgbClr val="E6EBEF"/>
                      </a:solidFill>
                    </a:lnB>
                    <a:solidFill>
                      <a:srgbClr val="1B5E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0F2C4C"/>
                          </a:solidFill>
                          <a:latin typeface="Arial"/>
                        </a:rPr>
                        <a:t>Rebuild</a:t>
                      </a:r>
                    </a:p>
                  </a:txBody>
                  <a:tcPr anchor="ctr" marL="82296" marT="27432" marR="82296" marB="27432">
                    <a:lnB w="9525" cap="flat" cmpd="sng" algn="ctr">
                      <a:solidFill>
                        <a:srgbClr val="E6EB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0F2C4C"/>
                          </a:solidFill>
                          <a:latin typeface="Arial"/>
                        </a:rPr>
                        <a:t>Master Data Steward (new role)</a:t>
                      </a:r>
                    </a:p>
                  </a:txBody>
                  <a:tcPr anchor="ctr" marL="82296" marT="27432" marR="82296" marB="27432">
                    <a:lnB w="9525" cap="flat" cmpd="sng" algn="ctr">
                      <a:solidFill>
                        <a:srgbClr val="E6EBEF"/>
                      </a:solidFill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2933"/>
                          </a:solidFill>
                          <a:latin typeface="Arial"/>
                        </a:rPr>
                        <a:t>All</a:t>
                      </a:r>
                    </a:p>
                  </a:txBody>
                  <a:tcPr anchor="ctr" marL="82296" marT="27432" marR="82296" marB="27432">
                    <a:lnB w="9525" cap="flat" cmpd="sng" algn="ctr">
                      <a:solidFill>
                        <a:srgbClr val="E6EBEF"/>
                      </a:solidFill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2933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82296" marT="27432" marR="82296" marB="27432">
                    <a:lnB w="9525" cap="flat" cmpd="sng" algn="ctr">
                      <a:solidFill>
                        <a:srgbClr val="E6EBEF"/>
                      </a:solidFill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2933"/>
                          </a:solidFill>
                          <a:latin typeface="Arial"/>
                        </a:rPr>
                        <a:t>HQ+6</a:t>
                      </a:r>
                    </a:p>
                  </a:txBody>
                  <a:tcPr anchor="ctr" marL="82296" marT="27432" marR="82296" marB="27432">
                    <a:lnB w="9525" cap="flat" cmpd="sng" algn="ctr">
                      <a:solidFill>
                        <a:srgbClr val="E6EBEF"/>
                      </a:solidFill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4.8</a:t>
                      </a:r>
                    </a:p>
                  </a:txBody>
                  <a:tcPr anchor="ctr" marL="54864" marT="27432" marR="54864" marB="27432">
                    <a:lnB w="9525" cap="flat" cmpd="sng" algn="ctr">
                      <a:solidFill>
                        <a:srgbClr val="E6EBEF"/>
                      </a:solidFill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0F2C4C"/>
                          </a:solidFill>
                          <a:latin typeface="Arial"/>
                        </a:rPr>
                        <a:t>4.1</a:t>
                      </a:r>
                    </a:p>
                  </a:txBody>
                  <a:tcPr anchor="ctr" marL="54864" marT="27432" marR="54864" marB="27432">
                    <a:lnB w="9525" cap="flat" cmpd="sng" algn="ctr">
                      <a:solidFill>
                        <a:srgbClr val="E6EBEF"/>
                      </a:solidFill>
                    </a:lnB>
                    <a:solidFill>
                      <a:srgbClr val="4E9D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0F2C4C"/>
                          </a:solidFill>
                          <a:latin typeface="Arial"/>
                        </a:rPr>
                        <a:t>Rebuild</a:t>
                      </a:r>
                    </a:p>
                  </a:txBody>
                  <a:tcPr anchor="ctr" marL="82296" marT="27432" marR="82296" marB="27432">
                    <a:lnB w="9525" cap="flat" cmpd="sng" algn="ctr">
                      <a:solidFill>
                        <a:srgbClr val="E6EBEF"/>
                      </a:solidFill>
                    </a:lnB>
                    <a:solidFill>
                      <a:srgbClr val="F7F9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0F2C4C"/>
                          </a:solidFill>
                          <a:latin typeface="Arial"/>
                        </a:rPr>
                        <a:t>Customer Service — Order Entry</a:t>
                      </a:r>
                    </a:p>
                  </a:txBody>
                  <a:tcPr anchor="ctr" marL="82296" marT="27432" marR="82296" marB="27432">
                    <a:lnB w="9525" cap="flat" cmpd="sng" algn="ctr">
                      <a:solidFill>
                        <a:srgbClr val="E6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2933"/>
                          </a:solidFill>
                          <a:latin typeface="Arial"/>
                        </a:rPr>
                        <a:t>Order-to-Cash</a:t>
                      </a:r>
                    </a:p>
                  </a:txBody>
                  <a:tcPr anchor="ctr" marL="82296" marT="27432" marR="82296" marB="27432">
                    <a:lnB w="9525" cap="flat" cmpd="sng" algn="ctr">
                      <a:solidFill>
                        <a:srgbClr val="E6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2933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anchor="ctr" marL="82296" marT="27432" marR="82296" marB="27432">
                    <a:lnB w="9525" cap="flat" cmpd="sng" algn="ctr">
                      <a:solidFill>
                        <a:srgbClr val="E6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2933"/>
                          </a:solidFill>
                          <a:latin typeface="Arial"/>
                        </a:rPr>
                        <a:t>HQ+2</a:t>
                      </a:r>
                    </a:p>
                  </a:txBody>
                  <a:tcPr anchor="ctr" marL="82296" marT="27432" marR="82296" marB="27432">
                    <a:lnB w="9525" cap="flat" cmpd="sng" algn="ctr">
                      <a:solidFill>
                        <a:srgbClr val="E6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4.5</a:t>
                      </a:r>
                    </a:p>
                  </a:txBody>
                  <a:tcPr anchor="ctr" marL="54864" marT="27432" marR="54864" marB="27432">
                    <a:lnB w="9525" cap="flat" cmpd="sng" algn="ctr">
                      <a:solidFill>
                        <a:srgbClr val="E6EBEF"/>
                      </a:solidFill>
                    </a:lnB>
                    <a:solidFill>
                      <a:srgbClr val="1B5E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0F2C4C"/>
                          </a:solidFill>
                          <a:latin typeface="Arial"/>
                        </a:rPr>
                        <a:t>3.9</a:t>
                      </a:r>
                    </a:p>
                  </a:txBody>
                  <a:tcPr anchor="ctr" marL="54864" marT="27432" marR="54864" marB="27432">
                    <a:lnB w="9525" cap="flat" cmpd="sng" algn="ctr">
                      <a:solidFill>
                        <a:srgbClr val="E6EBEF"/>
                      </a:solidFill>
                    </a:lnB>
                    <a:solidFill>
                      <a:srgbClr val="A8D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0F2C4C"/>
                          </a:solidFill>
                          <a:latin typeface="Arial"/>
                        </a:rPr>
                        <a:t>Rebuild</a:t>
                      </a:r>
                    </a:p>
                  </a:txBody>
                  <a:tcPr anchor="ctr" marL="82296" marT="27432" marR="82296" marB="27432">
                    <a:lnB w="9525" cap="flat" cmpd="sng" algn="ctr">
                      <a:solidFill>
                        <a:srgbClr val="E6EB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0F2C4C"/>
                          </a:solidFill>
                          <a:latin typeface="Arial"/>
                        </a:rPr>
                        <a:t>Plant Controller</a:t>
                      </a:r>
                    </a:p>
                  </a:txBody>
                  <a:tcPr anchor="ctr" marL="82296" marT="27432" marR="82296" marB="27432">
                    <a:lnB w="9525" cap="flat" cmpd="sng" algn="ctr">
                      <a:solidFill>
                        <a:srgbClr val="E6EBEF"/>
                      </a:solidFill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2933"/>
                          </a:solidFill>
                          <a:latin typeface="Arial"/>
                        </a:rPr>
                        <a:t>Record-to-Report</a:t>
                      </a:r>
                    </a:p>
                  </a:txBody>
                  <a:tcPr anchor="ctr" marL="82296" marT="27432" marR="82296" marB="27432">
                    <a:lnB w="9525" cap="flat" cmpd="sng" algn="ctr">
                      <a:solidFill>
                        <a:srgbClr val="E6EBEF"/>
                      </a:solidFill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2933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anchor="ctr" marL="82296" marT="27432" marR="82296" marB="27432">
                    <a:lnB w="9525" cap="flat" cmpd="sng" algn="ctr">
                      <a:solidFill>
                        <a:srgbClr val="E6EBEF"/>
                      </a:solidFill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2933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 marL="82296" marT="27432" marR="82296" marB="27432">
                    <a:lnB w="9525" cap="flat" cmpd="sng" algn="ctr">
                      <a:solidFill>
                        <a:srgbClr val="E6EBEF"/>
                      </a:solidFill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0F2C4C"/>
                          </a:solidFill>
                          <a:latin typeface="Arial"/>
                        </a:rPr>
                        <a:t>4.3</a:t>
                      </a:r>
                    </a:p>
                  </a:txBody>
                  <a:tcPr anchor="ctr" marL="54864" marT="27432" marR="54864" marB="27432">
                    <a:lnB w="9525" cap="flat" cmpd="sng" algn="ctr">
                      <a:solidFill>
                        <a:srgbClr val="E6EBEF"/>
                      </a:solidFill>
                    </a:lnB>
                    <a:solidFill>
                      <a:srgbClr val="4E9D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0F2C4C"/>
                          </a:solidFill>
                          <a:latin typeface="Arial"/>
                        </a:rPr>
                        <a:t>3.6</a:t>
                      </a:r>
                    </a:p>
                  </a:txBody>
                  <a:tcPr anchor="ctr" marL="54864" marT="27432" marR="54864" marB="27432">
                    <a:lnB w="9525" cap="flat" cmpd="sng" algn="ctr">
                      <a:solidFill>
                        <a:srgbClr val="E6EBEF"/>
                      </a:solidFill>
                    </a:lnB>
                    <a:solidFill>
                      <a:srgbClr val="DCE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1B5E8C"/>
                          </a:solidFill>
                          <a:latin typeface="Arial"/>
                        </a:rPr>
                        <a:t>Enable</a:t>
                      </a:r>
                    </a:p>
                  </a:txBody>
                  <a:tcPr anchor="ctr" marL="82296" marT="27432" marR="82296" marB="27432">
                    <a:lnB w="9525" cap="flat" cmpd="sng" algn="ctr">
                      <a:solidFill>
                        <a:srgbClr val="E6EBEF"/>
                      </a:solidFill>
                    </a:lnB>
                    <a:solidFill>
                      <a:srgbClr val="F7F9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0F2C4C"/>
                          </a:solidFill>
                          <a:latin typeface="Arial"/>
                        </a:rPr>
                        <a:t>Plant Buyer</a:t>
                      </a:r>
                    </a:p>
                  </a:txBody>
                  <a:tcPr anchor="ctr" marL="82296" marT="27432" marR="82296" marB="27432">
                    <a:lnB w="9525" cap="flat" cmpd="sng" algn="ctr">
                      <a:solidFill>
                        <a:srgbClr val="E6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2933"/>
                          </a:solidFill>
                          <a:latin typeface="Arial"/>
                        </a:rPr>
                        <a:t>Procure-to-Pay</a:t>
                      </a:r>
                    </a:p>
                  </a:txBody>
                  <a:tcPr anchor="ctr" marL="82296" marT="27432" marR="82296" marB="27432">
                    <a:lnB w="9525" cap="flat" cmpd="sng" algn="ctr">
                      <a:solidFill>
                        <a:srgbClr val="E6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2933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anchor="ctr" marL="82296" marT="27432" marR="82296" marB="27432">
                    <a:lnB w="9525" cap="flat" cmpd="sng" algn="ctr">
                      <a:solidFill>
                        <a:srgbClr val="E6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2933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 marL="82296" marT="27432" marR="82296" marB="27432">
                    <a:lnB w="9525" cap="flat" cmpd="sng" algn="ctr">
                      <a:solidFill>
                        <a:srgbClr val="E6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0F2C4C"/>
                          </a:solidFill>
                          <a:latin typeface="Arial"/>
                        </a:rPr>
                        <a:t>3.8</a:t>
                      </a:r>
                    </a:p>
                  </a:txBody>
                  <a:tcPr anchor="ctr" marL="54864" marT="27432" marR="54864" marB="27432">
                    <a:lnB w="9525" cap="flat" cmpd="sng" algn="ctr">
                      <a:solidFill>
                        <a:srgbClr val="E6EBEF"/>
                      </a:solidFill>
                    </a:lnB>
                    <a:solidFill>
                      <a:srgbClr val="A8D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0F2C4C"/>
                          </a:solidFill>
                          <a:latin typeface="Arial"/>
                        </a:rPr>
                        <a:t>4.2</a:t>
                      </a:r>
                    </a:p>
                  </a:txBody>
                  <a:tcPr anchor="ctr" marL="54864" marT="27432" marR="54864" marB="27432">
                    <a:lnB w="9525" cap="flat" cmpd="sng" algn="ctr">
                      <a:solidFill>
                        <a:srgbClr val="E6EBEF"/>
                      </a:solidFill>
                    </a:lnB>
                    <a:solidFill>
                      <a:srgbClr val="4E9D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0F2C4C"/>
                          </a:solidFill>
                          <a:latin typeface="Arial"/>
                        </a:rPr>
                        <a:t>Rebuild</a:t>
                      </a:r>
                    </a:p>
                  </a:txBody>
                  <a:tcPr anchor="ctr" marL="82296" marT="27432" marR="82296" marB="27432">
                    <a:lnB w="9525" cap="flat" cmpd="sng" algn="ctr">
                      <a:solidFill>
                        <a:srgbClr val="E6EBE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340096"/>
            <a:ext cx="137160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B6670"/>
                </a:solidFill>
                <a:latin typeface="Arial"/>
              </a:rPr>
              <a:t>Score 1–5</a:t>
            </a:r>
          </a:p>
        </p:txBody>
      </p:sp>
      <p:sp>
        <p:nvSpPr>
          <p:cNvPr id="8" name="Rectangle 7"/>
          <p:cNvSpPr/>
          <p:nvPr/>
        </p:nvSpPr>
        <p:spPr>
          <a:xfrm>
            <a:off x="1444752" y="5340096"/>
            <a:ext cx="329184" cy="182880"/>
          </a:xfrm>
          <a:prstGeom prst="rect">
            <a:avLst/>
          </a:prstGeom>
          <a:solidFill>
            <a:srgbClr val="DCEDF6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92224" y="5340096"/>
            <a:ext cx="329184" cy="182880"/>
          </a:xfrm>
          <a:prstGeom prst="rect">
            <a:avLst/>
          </a:prstGeom>
          <a:solidFill>
            <a:srgbClr val="A8D3E7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39696" y="5340096"/>
            <a:ext cx="329184" cy="182880"/>
          </a:xfrm>
          <a:prstGeom prst="rect">
            <a:avLst/>
          </a:prstGeom>
          <a:solidFill>
            <a:srgbClr val="4E9DC4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87168" y="5340096"/>
            <a:ext cx="329184" cy="182880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34640" y="5340096"/>
            <a:ext cx="329184" cy="182880"/>
          </a:xfrm>
          <a:prstGeom prst="rect">
            <a:avLst/>
          </a:prstGeom>
          <a:solidFill>
            <a:srgbClr val="0F2C4C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4752" y="5559552"/>
            <a:ext cx="64008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39B"/>
                </a:solidFill>
                <a:latin typeface="Arial"/>
              </a:rPr>
              <a:t>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3744" y="5559552"/>
            <a:ext cx="64008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39B"/>
                </a:solidFill>
                <a:latin typeface="Arial"/>
              </a:rP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5340096"/>
            <a:ext cx="548640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8A939B"/>
                </a:solidFill>
                <a:latin typeface="Arial"/>
              </a:rPr>
              <a:t>Highest-scoring roles of the 38 assessed. Illustrative figures.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512064"/>
          </a:xfrm>
          <a:prstGeom prst="rect">
            <a:avLst/>
          </a:prstGeom>
          <a:noFill/>
        </p:spPr>
        <p:txBody>
          <a:bodyPr wrap="square" anchor="b" lIns="0" tIns="0" r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F2C4C"/>
                </a:solidFill>
                <a:latin typeface="Arial"/>
              </a:rPr>
              <a:t>Role redesign — Plant Scheduler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94415" cy="38404"/>
          </a:xfrm>
          <a:prstGeom prst="rect">
            <a:avLst/>
          </a:prstGeom>
          <a:solidFill>
            <a:srgbClr val="29B8D8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64224"/>
            <a:ext cx="457200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39B"/>
                </a:solidFill>
                <a:latin typeface="Arial"/>
              </a:rPr>
              <a:t>Aberdeen Advisors  |  Team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364224"/>
            <a:ext cx="182880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39B"/>
                </a:solidFill>
                <a:latin typeface="Arial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07008"/>
            <a:ext cx="5349240" cy="2359152"/>
          </a:xfrm>
          <a:prstGeom prst="roundRect">
            <a:avLst>
              <a:gd name="adj" fmla="val 2325"/>
            </a:avLst>
          </a:prstGeom>
          <a:solidFill>
            <a:srgbClr val="F2F4F6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07008"/>
            <a:ext cx="5349240" cy="402336"/>
          </a:xfrm>
          <a:prstGeom prst="rect">
            <a:avLst/>
          </a:prstGeom>
          <a:solidFill>
            <a:srgbClr val="5B6670"/>
          </a:solidFill>
          <a:ln>
            <a:noFill/>
          </a:ln>
          <a:effectLst/>
        </p:spPr>
        <p:txBody>
          <a:bodyPr rtlCol="0" anchor="ctr" wrap="square" lIns="182880" rIns="18288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cap="all" spc="120">
                <a:solidFill>
                  <a:srgbClr val="FFFFFF"/>
                </a:solidFill>
                <a:latin typeface="Arial"/>
              </a:rPr>
              <a:t>Before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9344"/>
            <a:ext cx="5349240" cy="1956816"/>
          </a:xfrm>
          <a:prstGeom prst="roundRect">
            <a:avLst>
              <a:gd name="adj" fmla="val 3271"/>
            </a:avLst>
          </a:prstGeom>
          <a:noFill/>
          <a:ln>
            <a:noFill/>
          </a:ln>
          <a:effectLst/>
        </p:spPr>
        <p:txBody>
          <a:bodyPr rtlCol="0" anchor="t" wrap="square" lIns="237744" tIns="164592" rIns="237744" bIns="109728">
            <a:noAutofit/>
          </a:bodyPr>
          <a:lstStyle/>
          <a:p>
            <a:pPr algn="l" marL="155448" indent="-155448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rgbClr val="8A939B"/>
              </a:buClr>
              <a:buChar char="•"/>
              <a:buFont typeface="Arial"/>
            </a:pPr>
            <a:r>
              <a:rPr sz="1200" b="0" i="0">
                <a:solidFill>
                  <a:srgbClr val="1F2933"/>
                </a:solidFill>
                <a:latin typeface="Arial"/>
              </a:rPr>
              <a:t>Builds the weekly plan in Excel from an MRP extract</a:t>
            </a:r>
          </a:p>
          <a:p>
            <a:pPr algn="l" marL="155448" indent="-155448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rgbClr val="8A939B"/>
              </a:buClr>
              <a:buChar char="•"/>
              <a:buFont typeface="Arial"/>
            </a:pPr>
            <a:r>
              <a:rPr sz="1200" b="0" i="0">
                <a:solidFill>
                  <a:srgbClr val="1F2933"/>
                </a:solidFill>
                <a:latin typeface="Arial"/>
              </a:rPr>
              <a:t>Negotiates line changes by phone</a:t>
            </a:r>
          </a:p>
          <a:p>
            <a:pPr algn="l" marL="155448" indent="-155448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rgbClr val="8A939B"/>
              </a:buClr>
              <a:buChar char="•"/>
              <a:buFont typeface="Arial"/>
            </a:pPr>
            <a:r>
              <a:rPr sz="1200" b="0" i="0">
                <a:solidFill>
                  <a:srgbClr val="1F2933"/>
                </a:solidFill>
                <a:latin typeface="Arial"/>
              </a:rPr>
              <a:t>Owns sequencing on local judgement</a:t>
            </a:r>
          </a:p>
          <a:p>
            <a:pPr algn="l" marL="155448" indent="-155448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rgbClr val="8A939B"/>
              </a:buClr>
              <a:buChar char="•"/>
              <a:buFont typeface="Arial"/>
            </a:pPr>
            <a:r>
              <a:rPr sz="1200" b="0" i="0">
                <a:solidFill>
                  <a:srgbClr val="1F2933"/>
                </a:solidFill>
                <a:latin typeface="Arial"/>
              </a:rPr>
              <a:t>Reconciles variances by hand at week 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1071" y="1207008"/>
            <a:ext cx="5349240" cy="2359152"/>
          </a:xfrm>
          <a:prstGeom prst="roundRect">
            <a:avLst>
              <a:gd name="adj" fmla="val 2325"/>
            </a:avLst>
          </a:prstGeom>
          <a:solidFill>
            <a:srgbClr val="E7F4F9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91071" y="1207008"/>
            <a:ext cx="5349240" cy="402336"/>
          </a:xfrm>
          <a:prstGeom prst="rect">
            <a:avLst/>
          </a:prstGeom>
          <a:solidFill>
            <a:srgbClr val="0F2C4C"/>
          </a:solidFill>
          <a:ln>
            <a:noFill/>
          </a:ln>
          <a:effectLst/>
        </p:spPr>
        <p:txBody>
          <a:bodyPr rtlCol="0" anchor="ctr" wrap="square" lIns="182880" rIns="18288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cap="all" spc="120">
                <a:solidFill>
                  <a:srgbClr val="FFFFFF"/>
                </a:solidFill>
                <a:latin typeface="Arial"/>
              </a:rPr>
              <a:t>After — with ERP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1" y="1609344"/>
            <a:ext cx="5349240" cy="1956816"/>
          </a:xfrm>
          <a:prstGeom prst="roundRect">
            <a:avLst>
              <a:gd name="adj" fmla="val 3271"/>
            </a:avLst>
          </a:prstGeom>
          <a:noFill/>
          <a:ln>
            <a:noFill/>
          </a:ln>
          <a:effectLst/>
        </p:spPr>
        <p:txBody>
          <a:bodyPr rtlCol="0" anchor="t" wrap="square" lIns="237744" tIns="164592" rIns="237744" bIns="109728">
            <a:noAutofit/>
          </a:bodyPr>
          <a:lstStyle/>
          <a:p>
            <a:pPr algn="l" marL="155448" indent="-155448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rgbClr val="29B8D8"/>
              </a:buClr>
              <a:buChar char="•"/>
              <a:buFont typeface="Arial"/>
            </a:pPr>
            <a:r>
              <a:rPr sz="1200" b="0" i="0">
                <a:solidFill>
                  <a:srgbClr val="1F2933"/>
                </a:solidFill>
                <a:latin typeface="Arial"/>
              </a:rPr>
              <a:t>Plan is system-generated</a:t>
            </a:r>
          </a:p>
          <a:p>
            <a:pPr algn="l" marL="155448" indent="-155448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rgbClr val="29B8D8"/>
              </a:buClr>
              <a:buChar char="•"/>
              <a:buFont typeface="Arial"/>
            </a:pPr>
            <a:r>
              <a:rPr sz="1200" b="0" i="0">
                <a:solidFill>
                  <a:srgbClr val="1F2933"/>
                </a:solidFill>
                <a:latin typeface="Arial"/>
              </a:rPr>
              <a:t>Scheduler validates and clears exceptions</a:t>
            </a:r>
          </a:p>
          <a:p>
            <a:pPr algn="l" marL="155448" indent="-155448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rgbClr val="29B8D8"/>
              </a:buClr>
              <a:buChar char="•"/>
              <a:buFont typeface="Arial"/>
            </a:pPr>
            <a:r>
              <a:rPr sz="1200" b="0" i="0">
                <a:solidFill>
                  <a:srgbClr val="1F2933"/>
                </a:solidFill>
                <a:latin typeface="Arial"/>
              </a:rPr>
              <a:t>Releases orders in-system</a:t>
            </a:r>
          </a:p>
          <a:p>
            <a:pPr algn="l" marL="155448" indent="-155448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rgbClr val="29B8D8"/>
              </a:buClr>
              <a:buChar char="•"/>
              <a:buFont typeface="Arial"/>
            </a:pPr>
            <a:r>
              <a:rPr sz="1200" b="0" i="0">
                <a:solidFill>
                  <a:srgbClr val="1F2933"/>
                </a:solidFill>
                <a:latin typeface="Arial"/>
              </a:rPr>
              <a:t>Sequencing constrained by system rules</a:t>
            </a:r>
          </a:p>
          <a:p>
            <a:pPr algn="l" marL="155448" indent="-155448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rgbClr val="29B8D8"/>
              </a:buClr>
              <a:buChar char="•"/>
              <a:buFont typeface="Arial"/>
            </a:pPr>
            <a:r>
              <a:rPr sz="1200" b="0" i="0">
                <a:solidFill>
                  <a:srgbClr val="1F2933"/>
                </a:solidFill>
                <a:latin typeface="Arial"/>
              </a:rPr>
              <a:t>Every change carries a reason 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694176"/>
            <a:ext cx="2697480" cy="786384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5875">
            <a:solidFill>
              <a:srgbClr val="DDE3E8"/>
            </a:solidFill>
          </a:ln>
          <a:effectLst/>
        </p:spPr>
        <p:txBody>
          <a:bodyPr rtlCol="0" anchor="ctr" wrap="square" lIns="146304" tIns="54864" rIns="109728" bIns="5486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E7F9C"/>
                </a:solidFill>
                <a:latin typeface="Arial"/>
              </a:rPr>
              <a:t>6</a:t>
            </a:r>
            <a:r>
              <a:rPr sz="1100" b="0" i="0">
                <a:solidFill>
                  <a:srgbClr val="5B6670"/>
                </a:solidFill>
                <a:latin typeface="Arial"/>
              </a:rPr>
              <a:t>   tasks removed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49447" y="3694176"/>
            <a:ext cx="2697480" cy="786384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5875">
            <a:solidFill>
              <a:srgbClr val="DDE3E8"/>
            </a:solidFill>
          </a:ln>
          <a:effectLst/>
        </p:spPr>
        <p:txBody>
          <a:bodyPr rtlCol="0" anchor="ctr" wrap="square" lIns="146304" tIns="54864" rIns="109728" bIns="5486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E7F9C"/>
                </a:solidFill>
                <a:latin typeface="Arial"/>
              </a:rPr>
              <a:t>11</a:t>
            </a:r>
            <a:r>
              <a:rPr sz="1100" b="0" i="0">
                <a:solidFill>
                  <a:srgbClr val="5B6670"/>
                </a:solidFill>
                <a:latin typeface="Arial"/>
              </a:rPr>
              <a:t>   tasks changed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0254" y="3694176"/>
            <a:ext cx="2697480" cy="786384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5875">
            <a:solidFill>
              <a:srgbClr val="DDE3E8"/>
            </a:solidFill>
          </a:ln>
          <a:effectLst/>
        </p:spPr>
        <p:txBody>
          <a:bodyPr rtlCol="0" anchor="ctr" wrap="square" lIns="146304" tIns="54864" rIns="109728" bIns="5486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E7F9C"/>
                </a:solidFill>
                <a:latin typeface="Arial"/>
              </a:rPr>
              <a:t>4</a:t>
            </a:r>
            <a:r>
              <a:rPr sz="1100" b="0" i="0">
                <a:solidFill>
                  <a:srgbClr val="5B6670"/>
                </a:solidFill>
                <a:latin typeface="Arial"/>
              </a:rPr>
              <a:t>   tasks new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51061" y="3694176"/>
            <a:ext cx="2697480" cy="786384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5875">
            <a:solidFill>
              <a:srgbClr val="DDE3E8"/>
            </a:solidFill>
          </a:ln>
          <a:effectLst/>
        </p:spPr>
        <p:txBody>
          <a:bodyPr rtlCol="0" anchor="ctr" wrap="square" lIns="146304" tIns="54864" rIns="109728" bIns="5486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E7F9C"/>
                </a:solidFill>
                <a:latin typeface="Arial"/>
              </a:rPr>
              <a:t>−0.4</a:t>
            </a:r>
            <a:r>
              <a:rPr sz="1100" b="0" i="0">
                <a:solidFill>
                  <a:srgbClr val="5B6670"/>
                </a:solidFill>
                <a:latin typeface="Arial"/>
              </a:rPr>
              <a:t>   FTE of admin per site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08576"/>
            <a:ext cx="11094415" cy="731520"/>
          </a:xfrm>
          <a:prstGeom prst="roundRect">
            <a:avLst>
              <a:gd name="adj" fmla="val 7500"/>
            </a:avLst>
          </a:prstGeom>
          <a:solidFill>
            <a:srgbClr val="F2F4F6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608576"/>
            <a:ext cx="50292" cy="731520"/>
          </a:xfrm>
          <a:prstGeom prst="rect">
            <a:avLst/>
          </a:prstGeom>
          <a:solidFill>
            <a:srgbClr val="29B8D8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8932" y="4608576"/>
            <a:ext cx="11044123" cy="731520"/>
          </a:xfrm>
          <a:prstGeom prst="roundRect">
            <a:avLst>
              <a:gd name="adj" fmla="val 8750"/>
            </a:avLst>
          </a:prstGeom>
          <a:noFill/>
          <a:ln>
            <a:noFill/>
          </a:ln>
          <a:effectLst/>
        </p:spPr>
        <p:txBody>
          <a:bodyPr rtlCol="0" anchor="ctr" wrap="square" lIns="274320" tIns="54864" rIns="274320" bIns="54864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2C4C"/>
                </a:solidFill>
                <a:latin typeface="Arial"/>
              </a:rPr>
              <a:t>The real change is not the screen. </a:t>
            </a:r>
            <a:r>
              <a:rPr sz="1250" b="0" i="0">
                <a:solidFill>
                  <a:srgbClr val="1F2933"/>
                </a:solidFill>
                <a:latin typeface="Arial"/>
              </a:rPr>
              <a:t>Sequencing authority moves from local judgement to rules-based exception approval — that is the resistance.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449824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0F2C4C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5449824"/>
            <a:ext cx="11094415" cy="658368"/>
          </a:xfrm>
          <a:prstGeom prst="roundRect">
            <a:avLst>
              <a:gd name="adj" fmla="val 9722"/>
            </a:avLst>
          </a:prstGeom>
          <a:noFill/>
          <a:ln>
            <a:noFill/>
          </a:ln>
          <a:effectLst/>
        </p:spPr>
        <p:txBody>
          <a:bodyPr rtlCol="0" anchor="ctr" wrap="square" lIns="274320" tIns="54864" rIns="274320" bIns="5486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9B8D8"/>
                </a:solidFill>
                <a:latin typeface="Arial"/>
              </a:rPr>
              <a:t>Prescribed (Rebuild):  </a:t>
            </a:r>
            <a:r>
              <a:rPr sz="1250" b="0" i="0">
                <a:solidFill>
                  <a:srgbClr val="FFFFFF"/>
                </a:solidFill>
                <a:latin typeface="Arial"/>
              </a:rPr>
              <a:t>3-day sandbox · 1 super-user per site · 6-week floor coaching · manager script on decision rights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512064"/>
          </a:xfrm>
          <a:prstGeom prst="rect">
            <a:avLst/>
          </a:prstGeom>
          <a:noFill/>
        </p:spPr>
        <p:txBody>
          <a:bodyPr wrap="square" anchor="b" lIns="0" tIns="0" r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F2C4C"/>
                </a:solidFill>
                <a:latin typeface="Arial"/>
              </a:rPr>
              <a:t>Role redesign — Warehouse Team Lead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94415" cy="38404"/>
          </a:xfrm>
          <a:prstGeom prst="rect">
            <a:avLst/>
          </a:prstGeom>
          <a:solidFill>
            <a:srgbClr val="29B8D8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64224"/>
            <a:ext cx="457200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39B"/>
                </a:solidFill>
                <a:latin typeface="Arial"/>
              </a:rPr>
              <a:t>Aberdeen Advisors  |  Team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364224"/>
            <a:ext cx="182880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39B"/>
                </a:solidFill>
                <a:latin typeface="Arial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07008"/>
            <a:ext cx="5349240" cy="2139696"/>
          </a:xfrm>
          <a:prstGeom prst="roundRect">
            <a:avLst>
              <a:gd name="adj" fmla="val 2564"/>
            </a:avLst>
          </a:prstGeom>
          <a:solidFill>
            <a:srgbClr val="F2F4F6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07008"/>
            <a:ext cx="5349240" cy="402336"/>
          </a:xfrm>
          <a:prstGeom prst="rect">
            <a:avLst/>
          </a:prstGeom>
          <a:solidFill>
            <a:srgbClr val="5B6670"/>
          </a:solidFill>
          <a:ln>
            <a:noFill/>
          </a:ln>
          <a:effectLst/>
        </p:spPr>
        <p:txBody>
          <a:bodyPr rtlCol="0" anchor="ctr" wrap="square" lIns="182880" rIns="18288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cap="all" spc="120">
                <a:solidFill>
                  <a:srgbClr val="FFFFFF"/>
                </a:solidFill>
                <a:latin typeface="Arial"/>
              </a:rPr>
              <a:t>Before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9344"/>
            <a:ext cx="5349240" cy="1737360"/>
          </a:xfrm>
          <a:prstGeom prst="roundRect">
            <a:avLst>
              <a:gd name="adj" fmla="val 3684"/>
            </a:avLst>
          </a:prstGeom>
          <a:noFill/>
          <a:ln>
            <a:noFill/>
          </a:ln>
          <a:effectLst/>
        </p:spPr>
        <p:txBody>
          <a:bodyPr rtlCol="0" anchor="t" wrap="square" lIns="237744" tIns="164592" rIns="237744" bIns="109728">
            <a:noAutofit/>
          </a:bodyPr>
          <a:lstStyle/>
          <a:p>
            <a:pPr algn="l" marL="155448" indent="-155448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rgbClr val="8A939B"/>
              </a:buClr>
              <a:buChar char="•"/>
              <a:buFont typeface="Arial"/>
            </a:pPr>
            <a:r>
              <a:rPr sz="1200" b="0" i="0">
                <a:solidFill>
                  <a:srgbClr val="1F2933"/>
                </a:solidFill>
                <a:latin typeface="Arial"/>
              </a:rPr>
              <a:t>Paper pick lists</a:t>
            </a:r>
          </a:p>
          <a:p>
            <a:pPr algn="l" marL="155448" indent="-155448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rgbClr val="8A939B"/>
              </a:buClr>
              <a:buChar char="•"/>
              <a:buFont typeface="Arial"/>
            </a:pPr>
            <a:r>
              <a:rPr sz="1200" b="0" i="0">
                <a:solidFill>
                  <a:srgbClr val="1F2933"/>
                </a:solidFill>
                <a:latin typeface="Arial"/>
              </a:rPr>
              <a:t>Radio coordination</a:t>
            </a:r>
          </a:p>
          <a:p>
            <a:pPr algn="l" marL="155448" indent="-155448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rgbClr val="8A939B"/>
              </a:buClr>
              <a:buChar char="•"/>
              <a:buFont typeface="Arial"/>
            </a:pPr>
            <a:r>
              <a:rPr sz="1200" b="0" i="0">
                <a:solidFill>
                  <a:srgbClr val="1F2933"/>
                </a:solidFill>
                <a:latin typeface="Arial"/>
              </a:rPr>
              <a:t>Local workarounds absorb exceptions</a:t>
            </a:r>
          </a:p>
          <a:p>
            <a:pPr algn="l" marL="155448" indent="-155448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rgbClr val="8A939B"/>
              </a:buClr>
              <a:buChar char="•"/>
              <a:buFont typeface="Arial"/>
            </a:pPr>
            <a:r>
              <a:rPr sz="1200" b="0" i="0">
                <a:solidFill>
                  <a:srgbClr val="1F2933"/>
                </a:solidFill>
                <a:latin typeface="Arial"/>
              </a:rPr>
              <a:t>Nothing enters the system until end of shift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1071" y="1207008"/>
            <a:ext cx="5349240" cy="2139696"/>
          </a:xfrm>
          <a:prstGeom prst="roundRect">
            <a:avLst>
              <a:gd name="adj" fmla="val 2564"/>
            </a:avLst>
          </a:prstGeom>
          <a:solidFill>
            <a:srgbClr val="E7F4F9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91071" y="1207008"/>
            <a:ext cx="5349240" cy="402336"/>
          </a:xfrm>
          <a:prstGeom prst="rect">
            <a:avLst/>
          </a:prstGeom>
          <a:solidFill>
            <a:srgbClr val="0F2C4C"/>
          </a:solidFill>
          <a:ln>
            <a:noFill/>
          </a:ln>
          <a:effectLst/>
        </p:spPr>
        <p:txBody>
          <a:bodyPr rtlCol="0" anchor="ctr" wrap="square" lIns="182880" rIns="18288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cap="all" spc="120">
                <a:solidFill>
                  <a:srgbClr val="FFFFFF"/>
                </a:solidFill>
                <a:latin typeface="Arial"/>
              </a:rPr>
              <a:t>After — with ERP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1" y="1609344"/>
            <a:ext cx="5349240" cy="1737360"/>
          </a:xfrm>
          <a:prstGeom prst="roundRect">
            <a:avLst>
              <a:gd name="adj" fmla="val 3684"/>
            </a:avLst>
          </a:prstGeom>
          <a:noFill/>
          <a:ln>
            <a:noFill/>
          </a:ln>
          <a:effectLst/>
        </p:spPr>
        <p:txBody>
          <a:bodyPr rtlCol="0" anchor="t" wrap="square" lIns="237744" tIns="164592" rIns="237744" bIns="109728">
            <a:noAutofit/>
          </a:bodyPr>
          <a:lstStyle/>
          <a:p>
            <a:pPr algn="l" marL="155448" indent="-155448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rgbClr val="29B8D8"/>
              </a:buClr>
              <a:buChar char="•"/>
              <a:buFont typeface="Arial"/>
            </a:pPr>
            <a:r>
              <a:rPr sz="1200" b="0" i="0">
                <a:solidFill>
                  <a:srgbClr val="1F2933"/>
                </a:solidFill>
                <a:latin typeface="Arial"/>
              </a:rPr>
              <a:t>Handheld scanning</a:t>
            </a:r>
          </a:p>
          <a:p>
            <a:pPr algn="l" marL="155448" indent="-155448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rgbClr val="29B8D8"/>
              </a:buClr>
              <a:buChar char="•"/>
              <a:buFont typeface="Arial"/>
            </a:pPr>
            <a:r>
              <a:rPr sz="1200" b="0" i="0">
                <a:solidFill>
                  <a:srgbClr val="1F2933"/>
                </a:solidFill>
                <a:latin typeface="Arial"/>
              </a:rPr>
              <a:t>Real-time confirmation</a:t>
            </a:r>
          </a:p>
          <a:p>
            <a:pPr algn="l" marL="155448" indent="-155448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rgbClr val="29B8D8"/>
              </a:buClr>
              <a:buChar char="•"/>
              <a:buFont typeface="Arial"/>
            </a:pPr>
            <a:r>
              <a:rPr sz="1200" b="0" i="0">
                <a:solidFill>
                  <a:srgbClr val="1F2933"/>
                </a:solidFill>
                <a:latin typeface="Arial"/>
              </a:rPr>
              <a:t>System-directed putaway</a:t>
            </a:r>
          </a:p>
          <a:p>
            <a:pPr algn="l" marL="155448" indent="-155448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rgbClr val="29B8D8"/>
              </a:buClr>
              <a:buChar char="•"/>
              <a:buFont typeface="Arial"/>
            </a:pPr>
            <a:r>
              <a:rPr sz="1200" b="0" i="0">
                <a:solidFill>
                  <a:srgbClr val="1F2933"/>
                </a:solidFill>
                <a:latin typeface="Arial"/>
              </a:rPr>
              <a:t>No retrospective entry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29584"/>
            <a:ext cx="11094415" cy="1481328"/>
          </a:xfrm>
          <a:prstGeom prst="roundRect">
            <a:avLst>
              <a:gd name="adj" fmla="val 3703"/>
            </a:avLst>
          </a:prstGeom>
          <a:solidFill>
            <a:srgbClr val="FFFFFF"/>
          </a:solidFill>
          <a:ln w="15875">
            <a:solidFill>
              <a:srgbClr val="DDE3E8"/>
            </a:solidFill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666744"/>
            <a:ext cx="457200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cap="all" spc="120">
                <a:solidFill>
                  <a:srgbClr val="0E7F9C"/>
                </a:solidFill>
                <a:latin typeface="Arial"/>
              </a:rPr>
              <a:t>Constraints on this population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" y="3968496"/>
            <a:ext cx="2031796" cy="493776"/>
          </a:xfrm>
          <a:prstGeom prst="roundRect">
            <a:avLst>
              <a:gd name="adj" fmla="val 11111"/>
            </a:avLst>
          </a:prstGeom>
          <a:solidFill>
            <a:srgbClr val="F2F4F6"/>
          </a:solidFill>
          <a:ln>
            <a:noFill/>
          </a:ln>
          <a:effectLst/>
        </p:spPr>
        <p:txBody>
          <a:bodyPr rtlCol="0" anchor="ctr" wrap="square" lIns="73152" tIns="36576" rIns="73152" bIns="3657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2C4C"/>
                </a:solidFill>
                <a:latin typeface="Arial"/>
              </a:rPr>
              <a:t>Deskless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41624" y="3968496"/>
            <a:ext cx="2031796" cy="493776"/>
          </a:xfrm>
          <a:prstGeom prst="roundRect">
            <a:avLst>
              <a:gd name="adj" fmla="val 11111"/>
            </a:avLst>
          </a:prstGeom>
          <a:solidFill>
            <a:srgbClr val="F2F4F6"/>
          </a:solidFill>
          <a:ln>
            <a:noFill/>
          </a:ln>
          <a:effectLst/>
        </p:spPr>
        <p:txBody>
          <a:bodyPr rtlCol="0" anchor="ctr" wrap="square" lIns="73152" tIns="36576" rIns="73152" bIns="3657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2C4C"/>
                </a:solidFill>
                <a:latin typeface="Arial"/>
              </a:rPr>
              <a:t>3 shifts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8577" y="3968496"/>
            <a:ext cx="2031796" cy="493776"/>
          </a:xfrm>
          <a:prstGeom prst="roundRect">
            <a:avLst>
              <a:gd name="adj" fmla="val 11111"/>
            </a:avLst>
          </a:prstGeom>
          <a:solidFill>
            <a:srgbClr val="F2F4F6"/>
          </a:solidFill>
          <a:ln>
            <a:noFill/>
          </a:ln>
          <a:effectLst/>
        </p:spPr>
        <p:txBody>
          <a:bodyPr rtlCol="0" anchor="ctr" wrap="square" lIns="73152" tIns="36576" rIns="73152" bIns="3657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2C4C"/>
                </a:solidFill>
                <a:latin typeface="Arial"/>
              </a:rPr>
              <a:t>No corporate email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15530" y="3968496"/>
            <a:ext cx="2031796" cy="493776"/>
          </a:xfrm>
          <a:prstGeom prst="roundRect">
            <a:avLst>
              <a:gd name="adj" fmla="val 11111"/>
            </a:avLst>
          </a:prstGeom>
          <a:solidFill>
            <a:srgbClr val="F2F4F6"/>
          </a:solidFill>
          <a:ln>
            <a:noFill/>
          </a:ln>
          <a:effectLst/>
        </p:spPr>
        <p:txBody>
          <a:bodyPr rtlCol="0" anchor="ctr" wrap="square" lIns="73152" tIns="36576" rIns="73152" bIns="3657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2C4C"/>
                </a:solidFill>
                <a:latin typeface="Arial"/>
              </a:rPr>
              <a:t>4 languages across sites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52483" y="3968496"/>
            <a:ext cx="2031796" cy="493776"/>
          </a:xfrm>
          <a:prstGeom prst="roundRect">
            <a:avLst>
              <a:gd name="adj" fmla="val 11111"/>
            </a:avLst>
          </a:prstGeom>
          <a:solidFill>
            <a:srgbClr val="F2F4F6"/>
          </a:solidFill>
          <a:ln>
            <a:noFill/>
          </a:ln>
          <a:effectLst/>
        </p:spPr>
        <p:txBody>
          <a:bodyPr rtlCol="0" anchor="ctr" wrap="square" lIns="73152" tIns="36576" rIns="73152" bIns="3657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2C4C"/>
                </a:solidFill>
                <a:latin typeface="Arial"/>
              </a:rPr>
              <a:t>2 prior failed WMS attempts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4572000"/>
            <a:ext cx="1042416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2C4C"/>
                </a:solidFill>
                <a:latin typeface="Arial"/>
              </a:rPr>
              <a:t>Highest change fatigue in the population.</a:t>
            </a:r>
            <a:r>
              <a:rPr sz="1150" b="0" i="0">
                <a:solidFill>
                  <a:srgbClr val="5B6670"/>
                </a:solidFill>
                <a:latin typeface="Arial"/>
              </a:rPr>
              <a:t>  Any intervention that assumes a desk, a screen, or an inbox will not land here.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193792"/>
            <a:ext cx="11094415" cy="822960"/>
          </a:xfrm>
          <a:prstGeom prst="roundRect">
            <a:avLst>
              <a:gd name="adj" fmla="val 6666"/>
            </a:avLst>
          </a:prstGeom>
          <a:solidFill>
            <a:srgbClr val="0F2C4C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5193792"/>
            <a:ext cx="11094415" cy="822960"/>
          </a:xfrm>
          <a:prstGeom prst="roundRect">
            <a:avLst>
              <a:gd name="adj" fmla="val 7777"/>
            </a:avLst>
          </a:prstGeom>
          <a:noFill/>
          <a:ln>
            <a:noFill/>
          </a:ln>
          <a:effectLst/>
        </p:spPr>
        <p:txBody>
          <a:bodyPr rtlCol="0" anchor="ctr" wrap="square" lIns="274320" tIns="73152" rIns="274320" bIns="73152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9B8D8"/>
                </a:solidFill>
                <a:latin typeface="Arial"/>
              </a:rPr>
              <a:t>Prescribed (Rebuild):  </a:t>
            </a:r>
            <a:r>
              <a:rPr sz="1250" b="0" i="0">
                <a:solidFill>
                  <a:srgbClr val="FFFFFF"/>
                </a:solidFill>
                <a:latin typeface="Arial"/>
              </a:rPr>
              <a:t>on-shift micro-training at the line · laminated job aids in local language · 1 super-user per 12 leads · 4 weeks floor presence at go-live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512064"/>
          </a:xfrm>
          <a:prstGeom prst="rect">
            <a:avLst/>
          </a:prstGeom>
          <a:noFill/>
        </p:spPr>
        <p:txBody>
          <a:bodyPr wrap="square" anchor="b" lIns="0" tIns="0" r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F2C4C"/>
                </a:solidFill>
                <a:latin typeface="Arial"/>
              </a:rPr>
              <a:t>The output is a resourced plan, not a report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94415" cy="38404"/>
          </a:xfrm>
          <a:prstGeom prst="rect">
            <a:avLst/>
          </a:prstGeom>
          <a:solidFill>
            <a:srgbClr val="29B8D8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64224"/>
            <a:ext cx="457200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39B"/>
                </a:solidFill>
                <a:latin typeface="Arial"/>
              </a:rPr>
              <a:t>Aberdeen Advisors  |  Team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364224"/>
            <a:ext cx="182880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39B"/>
                </a:solidFill>
                <a:latin typeface="Arial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07008"/>
            <a:ext cx="3538728" cy="3730752"/>
          </a:xfrm>
          <a:prstGeom prst="roundRect">
            <a:avLst>
              <a:gd name="adj" fmla="val 1550"/>
            </a:avLst>
          </a:prstGeom>
          <a:solidFill>
            <a:srgbClr val="FFFFFF"/>
          </a:solidFill>
          <a:ln w="15875">
            <a:solidFill>
              <a:srgbClr val="DDE3E8"/>
            </a:solidFill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07008"/>
            <a:ext cx="3538728" cy="475488"/>
          </a:xfrm>
          <a:prstGeom prst="rect">
            <a:avLst/>
          </a:prstGeom>
          <a:solidFill>
            <a:srgbClr val="0F2C4C"/>
          </a:solidFill>
          <a:ln>
            <a:noFill/>
          </a:ln>
          <a:effectLst/>
        </p:spPr>
        <p:txBody>
          <a:bodyPr rtlCol="0" anchor="ctr" wrap="square" lIns="182880" rIns="18288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cap="all" spc="120">
                <a:solidFill>
                  <a:srgbClr val="FFFFFF"/>
                </a:solidFill>
                <a:latin typeface="Arial"/>
              </a:rPr>
              <a:t>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932688" cy="8229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2C4C"/>
                </a:solidFill>
                <a:latin typeface="Arial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73936" y="1828800"/>
            <a:ext cx="2112264" cy="8229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933"/>
                </a:solidFill>
                <a:latin typeface="Arial"/>
              </a:rPr>
              <a:t>role-based curricula — not 41 module courses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724912"/>
            <a:ext cx="3136392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843784"/>
            <a:ext cx="932688" cy="8229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2C4C"/>
                </a:solidFill>
                <a:latin typeface="Arial"/>
              </a:rPr>
              <a:t>62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73936" y="2843784"/>
            <a:ext cx="2112264" cy="8229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933"/>
                </a:solidFill>
                <a:latin typeface="Arial"/>
              </a:rPr>
              <a:t>sandbox seats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3739896"/>
            <a:ext cx="3136392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858768"/>
            <a:ext cx="932688" cy="8229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2C4C"/>
                </a:solidFill>
                <a:latin typeface="Arial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73936" y="3858768"/>
            <a:ext cx="2112264" cy="8229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933"/>
                </a:solidFill>
                <a:latin typeface="Arial"/>
              </a:rPr>
              <a:t>deskless on-shift training formats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5112" y="1207008"/>
            <a:ext cx="3538728" cy="3730752"/>
          </a:xfrm>
          <a:prstGeom prst="roundRect">
            <a:avLst>
              <a:gd name="adj" fmla="val 1550"/>
            </a:avLst>
          </a:prstGeom>
          <a:solidFill>
            <a:srgbClr val="FFFFFF"/>
          </a:solidFill>
          <a:ln w="15875">
            <a:solidFill>
              <a:srgbClr val="DDE3E8"/>
            </a:solidFill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25112" y="1207008"/>
            <a:ext cx="3538728" cy="475488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txBody>
          <a:bodyPr rtlCol="0" anchor="ctr" wrap="square" lIns="182880" rIns="18288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cap="all" spc="120">
                <a:solidFill>
                  <a:srgbClr val="FFFFFF"/>
                </a:solidFill>
                <a:latin typeface="Arial"/>
              </a:rPr>
              <a:t>Communication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79" y="1828800"/>
            <a:ext cx="932688" cy="8229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5E8C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50407" y="1828800"/>
            <a:ext cx="2112264" cy="8229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933"/>
                </a:solidFill>
                <a:latin typeface="Arial"/>
              </a:rPr>
              <a:t>message tracks, one per tier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26279" y="2724912"/>
            <a:ext cx="3136392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79" y="2843784"/>
            <a:ext cx="932688" cy="8229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5E8C"/>
                </a:solidFill>
                <a:latin typeface="Arial"/>
              </a:rPr>
              <a:t>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50407" y="2843784"/>
            <a:ext cx="2112264" cy="8229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933"/>
                </a:solidFill>
                <a:latin typeface="Arial"/>
              </a:rPr>
              <a:t>manager cascade scripts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26279" y="3739896"/>
            <a:ext cx="3136392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79" y="3858768"/>
            <a:ext cx="932688" cy="8229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5E8C"/>
                </a:solidFill>
                <a:latin typeface="Arial"/>
              </a:rPr>
              <a:t>340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50407" y="3858768"/>
            <a:ext cx="2112264" cy="8229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933"/>
                </a:solidFill>
                <a:latin typeface="Arial"/>
              </a:rPr>
              <a:t>supervisors briefed on decision rights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01583" y="1207008"/>
            <a:ext cx="3538728" cy="3730752"/>
          </a:xfrm>
          <a:prstGeom prst="roundRect">
            <a:avLst>
              <a:gd name="adj" fmla="val 1550"/>
            </a:avLst>
          </a:prstGeom>
          <a:solidFill>
            <a:srgbClr val="FFFFFF"/>
          </a:solidFill>
          <a:ln w="15875">
            <a:solidFill>
              <a:srgbClr val="DDE3E8"/>
            </a:solidFill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01583" y="1207008"/>
            <a:ext cx="3538728" cy="475488"/>
          </a:xfrm>
          <a:prstGeom prst="rect">
            <a:avLst/>
          </a:prstGeom>
          <a:solidFill>
            <a:srgbClr val="0E7F9C"/>
          </a:solidFill>
          <a:ln>
            <a:noFill/>
          </a:ln>
          <a:effectLst/>
        </p:spPr>
        <p:txBody>
          <a:bodyPr rtlCol="0" anchor="ctr" wrap="square" lIns="182880" rIns="18288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cap="all" spc="120">
                <a:solidFill>
                  <a:srgbClr val="FFFFFF"/>
                </a:solidFill>
                <a:latin typeface="Arial"/>
              </a:rPr>
              <a:t>Adoption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1828800"/>
            <a:ext cx="932688" cy="8229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7F9C"/>
                </a:solidFill>
                <a:latin typeface="Arial"/>
              </a:rPr>
              <a:t>42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1828800"/>
            <a:ext cx="2112264" cy="8229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933"/>
                </a:solidFill>
                <a:latin typeface="Arial"/>
              </a:rPr>
              <a:t>super-users, 1:15 ratio in Rebuild roles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02752" y="2724912"/>
            <a:ext cx="3136392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02752" y="2843784"/>
            <a:ext cx="932688" cy="8229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7F9C"/>
                </a:solidFill>
                <a:latin typeface="Arial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2843784"/>
            <a:ext cx="2112264" cy="8229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933"/>
                </a:solidFill>
                <a:latin typeface="Arial"/>
              </a:rPr>
              <a:t>site change coaches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02752" y="3739896"/>
            <a:ext cx="3136392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02752" y="3858768"/>
            <a:ext cx="932688" cy="8229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7F9C"/>
                </a:solidFill>
                <a:latin typeface="Arial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3858768"/>
            <a:ext cx="2112264" cy="8229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933"/>
                </a:solidFill>
                <a:latin typeface="Arial"/>
              </a:rPr>
              <a:t>weeks hypercare, staffed to predicted ticket concentration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120640"/>
            <a:ext cx="11094415" cy="786384"/>
          </a:xfrm>
          <a:prstGeom prst="roundRect">
            <a:avLst>
              <a:gd name="adj" fmla="val 6976"/>
            </a:avLst>
          </a:prstGeom>
          <a:solidFill>
            <a:srgbClr val="F2F4F6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5120640"/>
            <a:ext cx="50292" cy="786384"/>
          </a:xfrm>
          <a:prstGeom prst="rect">
            <a:avLst/>
          </a:prstGeom>
          <a:solidFill>
            <a:srgbClr val="29B8D8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98932" y="5120640"/>
            <a:ext cx="11044123" cy="786384"/>
          </a:xfrm>
          <a:prstGeom prst="roundRect">
            <a:avLst>
              <a:gd name="adj" fmla="val 8139"/>
            </a:avLst>
          </a:prstGeom>
          <a:noFill/>
          <a:ln>
            <a:noFill/>
          </a:ln>
          <a:effectLst/>
        </p:spPr>
        <p:txBody>
          <a:bodyPr rtlCol="0" anchor="ctr" wrap="square" lIns="274320" tIns="54864" rIns="274320" bIns="5486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2C4C"/>
                </a:solidFill>
                <a:latin typeface="Arial"/>
              </a:rPr>
              <a:t>Every number traces back to a role × process × site row.</a:t>
            </a:r>
            <a:r>
              <a:rPr sz="1350" b="0" i="0">
                <a:solidFill>
                  <a:srgbClr val="1F2933"/>
                </a:solidFill>
                <a:latin typeface="Arial"/>
              </a:rPr>
              <a:t>  Change an input, the plan re-costs itself.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512064"/>
          </a:xfrm>
          <a:prstGeom prst="rect">
            <a:avLst/>
          </a:prstGeom>
          <a:noFill/>
        </p:spPr>
        <p:txBody>
          <a:bodyPr wrap="square" anchor="b" lIns="0" tIns="0" r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F2C4C"/>
                </a:solidFill>
                <a:latin typeface="Arial"/>
              </a:rPr>
              <a:t>Targeting does not cost more. It costs less.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94415" cy="38404"/>
          </a:xfrm>
          <a:prstGeom prst="rect">
            <a:avLst/>
          </a:prstGeom>
          <a:solidFill>
            <a:srgbClr val="29B8D8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64224"/>
            <a:ext cx="457200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39B"/>
                </a:solidFill>
                <a:latin typeface="Arial"/>
              </a:rPr>
              <a:t>Aberdeen Advisors  |  Team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364224"/>
            <a:ext cx="182880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39B"/>
                </a:solidFill>
                <a:latin typeface="Arial"/>
              </a:rPr>
              <a:t>14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225296"/>
          <a:ext cx="7452360" cy="40416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47888" y="1371600"/>
            <a:ext cx="3392424" cy="1170432"/>
          </a:xfrm>
          <a:prstGeom prst="roundRect">
            <a:avLst>
              <a:gd name="adj" fmla="val 4687"/>
            </a:avLst>
          </a:prstGeom>
          <a:solidFill>
            <a:srgbClr val="F2F4F6"/>
          </a:solidFill>
          <a:ln>
            <a:noFill/>
          </a:ln>
          <a:effectLst/>
        </p:spPr>
        <p:txBody>
          <a:bodyPr rtlCol="0" anchor="ctr" wrap="square" lIns="274320" tIns="91440" rIns="219456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1" i="0" cap="all" spc="120">
                <a:solidFill>
                  <a:srgbClr val="0E7F9C"/>
                </a:solidFill>
                <a:latin typeface="Arial"/>
              </a:rPr>
              <a:t>Dip depth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5B6670"/>
                </a:solidFill>
                <a:latin typeface="Arial"/>
              </a:rPr>
              <a:t>22%</a:t>
            </a:r>
            <a:r>
              <a:rPr sz="1500" b="0" i="0">
                <a:solidFill>
                  <a:srgbClr val="8A939B"/>
                </a:solidFill>
                <a:latin typeface="Arial"/>
              </a:rPr>
              <a:t>   →   </a:t>
            </a:r>
            <a:r>
              <a:rPr sz="2500" b="1" i="0">
                <a:solidFill>
                  <a:srgbClr val="0F2C4C"/>
                </a:solidFill>
                <a:latin typeface="Arial"/>
              </a:rPr>
              <a:t>11%</a:t>
            </a:r>
          </a:p>
        </p:txBody>
      </p:sp>
      <p:sp>
        <p:nvSpPr>
          <p:cNvPr id="8" name="Rectangle 7"/>
          <p:cNvSpPr/>
          <p:nvPr/>
        </p:nvSpPr>
        <p:spPr>
          <a:xfrm>
            <a:off x="8247888" y="1371600"/>
            <a:ext cx="45720" cy="1170432"/>
          </a:xfrm>
          <a:prstGeom prst="rect">
            <a:avLst/>
          </a:prstGeom>
          <a:solidFill>
            <a:srgbClr val="29B8D8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47888" y="2761488"/>
            <a:ext cx="3392424" cy="1170432"/>
          </a:xfrm>
          <a:prstGeom prst="roundRect">
            <a:avLst>
              <a:gd name="adj" fmla="val 4687"/>
            </a:avLst>
          </a:prstGeom>
          <a:solidFill>
            <a:srgbClr val="F2F4F6"/>
          </a:solidFill>
          <a:ln>
            <a:noFill/>
          </a:ln>
          <a:effectLst/>
        </p:spPr>
        <p:txBody>
          <a:bodyPr rtlCol="0" anchor="ctr" wrap="square" lIns="274320" tIns="91440" rIns="219456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1" i="0" cap="all" spc="120">
                <a:solidFill>
                  <a:srgbClr val="0E7F9C"/>
                </a:solidFill>
                <a:latin typeface="Arial"/>
              </a:rPr>
              <a:t>Recovery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5B6670"/>
                </a:solidFill>
                <a:latin typeface="Arial"/>
              </a:rPr>
              <a:t>14 weeks</a:t>
            </a:r>
            <a:r>
              <a:rPr sz="1500" b="0" i="0">
                <a:solidFill>
                  <a:srgbClr val="8A939B"/>
                </a:solidFill>
                <a:latin typeface="Arial"/>
              </a:rPr>
              <a:t>   →   </a:t>
            </a:r>
            <a:r>
              <a:rPr sz="2500" b="1" i="0">
                <a:solidFill>
                  <a:srgbClr val="0F2C4C"/>
                </a:solidFill>
                <a:latin typeface="Arial"/>
              </a:rPr>
              <a:t>6 weeks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47888" y="2761488"/>
            <a:ext cx="45720" cy="1170432"/>
          </a:xfrm>
          <a:prstGeom prst="rect">
            <a:avLst/>
          </a:prstGeom>
          <a:solidFill>
            <a:srgbClr val="29B8D8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47888" y="4151376"/>
            <a:ext cx="3392424" cy="1170432"/>
          </a:xfrm>
          <a:prstGeom prst="roundRect">
            <a:avLst>
              <a:gd name="adj" fmla="val 4687"/>
            </a:avLst>
          </a:prstGeom>
          <a:solidFill>
            <a:srgbClr val="F2F4F6"/>
          </a:solidFill>
          <a:ln>
            <a:noFill/>
          </a:ln>
          <a:effectLst/>
        </p:spPr>
        <p:txBody>
          <a:bodyPr rtlCol="0" anchor="ctr" wrap="square" lIns="274320" tIns="91440" rIns="219456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1" i="0" cap="all" spc="120">
                <a:solidFill>
                  <a:srgbClr val="0E7F9C"/>
                </a:solidFill>
                <a:latin typeface="Arial"/>
              </a:rPr>
              <a:t>Productivity loss avoided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2C4C"/>
                </a:solidFill>
                <a:latin typeface="Arial"/>
              </a:rPr>
              <a:t>≈$5.3M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47888" y="4151376"/>
            <a:ext cx="45720" cy="1170432"/>
          </a:xfrm>
          <a:prstGeom prst="rect">
            <a:avLst/>
          </a:prstGeom>
          <a:solidFill>
            <a:srgbClr val="29B8D8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431536"/>
            <a:ext cx="8229600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8A939B"/>
                </a:solidFill>
                <a:latin typeface="Arial"/>
              </a:rPr>
              <a:t>Same training budget, redistributed — not increased. Illustrative figures.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512064"/>
          </a:xfrm>
          <a:prstGeom prst="rect">
            <a:avLst/>
          </a:prstGeom>
          <a:noFill/>
        </p:spPr>
        <p:txBody>
          <a:bodyPr wrap="square" anchor="b" lIns="0" tIns="0" r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F2C4C"/>
                </a:solidFill>
                <a:latin typeface="Arial"/>
              </a:rPr>
              <a:t>Built in a day, reusable on the next program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94415" cy="38404"/>
          </a:xfrm>
          <a:prstGeom prst="rect">
            <a:avLst/>
          </a:prstGeom>
          <a:solidFill>
            <a:srgbClr val="29B8D8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64224"/>
            <a:ext cx="457200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39B"/>
                </a:solidFill>
                <a:latin typeface="Arial"/>
              </a:rPr>
              <a:t>Aberdeen Advisors  |  Team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364224"/>
            <a:ext cx="182880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39B"/>
                </a:solidFill>
                <a:latin typeface="Arial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07008"/>
            <a:ext cx="3383280" cy="3255264"/>
          </a:xfrm>
          <a:prstGeom prst="roundRect">
            <a:avLst>
              <a:gd name="adj" fmla="val 1685"/>
            </a:avLst>
          </a:prstGeom>
          <a:solidFill>
            <a:srgbClr val="F2F4F6"/>
          </a:solidFill>
          <a:ln w="15875">
            <a:solidFill>
              <a:srgbClr val="DDE3E8"/>
            </a:solidFill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07008"/>
            <a:ext cx="3383280" cy="457200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txBody>
          <a:bodyPr rtlCol="0" anchor="ctr" wrap="square" lIns="182880" rIns="18288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cap="all" spc="120">
                <a:solidFill>
                  <a:srgbClr val="FFFFFF"/>
                </a:solidFill>
                <a:latin typeface="Arial"/>
              </a:rPr>
              <a:t>Inputs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64208"/>
            <a:ext cx="3383280" cy="2798064"/>
          </a:xfrm>
          <a:prstGeom prst="roundRect">
            <a:avLst>
              <a:gd name="adj" fmla="val 2287"/>
            </a:avLst>
          </a:prstGeom>
          <a:noFill/>
          <a:ln>
            <a:noFill/>
          </a:ln>
          <a:effectLst/>
        </p:spPr>
        <p:txBody>
          <a:bodyPr rtlCol="0" anchor="ctr" wrap="square" lIns="237744" tIns="182880" rIns="219456" bIns="182880">
            <a:noAutofit/>
          </a:bodyPr>
          <a:lstStyle/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400"/>
              </a:spcAft>
              <a:buClr>
                <a:srgbClr val="29B8D8"/>
              </a:buClr>
              <a:buChar char="•"/>
              <a:buFont typeface="Arial"/>
            </a:pPr>
            <a:r>
              <a:rPr sz="1150" b="0" i="0">
                <a:solidFill>
                  <a:srgbClr val="1F2933"/>
                </a:solidFill>
                <a:latin typeface="Arial"/>
              </a:rPr>
              <a:t>To-be process designs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400"/>
              </a:spcAft>
              <a:buClr>
                <a:srgbClr val="29B8D8"/>
              </a:buClr>
              <a:buChar char="•"/>
              <a:buFont typeface="Arial"/>
            </a:pPr>
            <a:r>
              <a:rPr sz="1150" b="0" i="0">
                <a:solidFill>
                  <a:srgbClr val="1F2933"/>
                </a:solidFill>
                <a:latin typeface="Arial"/>
              </a:rPr>
              <a:t>HRIS role and headcount data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400"/>
              </a:spcAft>
              <a:buClr>
                <a:srgbClr val="29B8D8"/>
              </a:buClr>
              <a:buChar char="•"/>
              <a:buFont typeface="Arial"/>
            </a:pPr>
            <a:r>
              <a:rPr sz="1150" b="0" i="0">
                <a:solidFill>
                  <a:srgbClr val="1F2933"/>
                </a:solidFill>
                <a:latin typeface="Arial"/>
              </a:rPr>
              <a:t>System transaction and authorisation lists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400"/>
              </a:spcAft>
              <a:buClr>
                <a:srgbClr val="29B8D8"/>
              </a:buClr>
              <a:buChar char="•"/>
              <a:buFont typeface="Arial"/>
            </a:pPr>
            <a:r>
              <a:rPr sz="1150" b="0" i="0">
                <a:solidFill>
                  <a:srgbClr val="1F2933"/>
                </a:solidFill>
                <a:latin typeface="Arial"/>
              </a:rPr>
              <a:t>Site profiles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400"/>
              </a:spcAft>
              <a:buClr>
                <a:srgbClr val="29B8D8"/>
              </a:buClr>
              <a:buChar char="•"/>
              <a:buFont typeface="Arial"/>
            </a:pPr>
            <a:r>
              <a:rPr sz="1150" b="0" i="0">
                <a:solidFill>
                  <a:srgbClr val="1F2933"/>
                </a:solidFill>
                <a:latin typeface="Arial"/>
              </a:rPr>
              <a:t>Readiness pulse 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07008"/>
            <a:ext cx="3474720" cy="3255264"/>
          </a:xfrm>
          <a:prstGeom prst="roundRect">
            <a:avLst>
              <a:gd name="adj" fmla="val 1685"/>
            </a:avLst>
          </a:prstGeom>
          <a:solidFill>
            <a:srgbClr val="0F2C4C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207008"/>
            <a:ext cx="3474720" cy="457200"/>
          </a:xfrm>
          <a:prstGeom prst="rect">
            <a:avLst/>
          </a:prstGeom>
          <a:solidFill>
            <a:srgbClr val="29B8D8"/>
          </a:solidFill>
          <a:ln>
            <a:noFill/>
          </a:ln>
          <a:effectLst/>
        </p:spPr>
        <p:txBody>
          <a:bodyPr rtlCol="0" anchor="ctr" wrap="square" lIns="182880" rIns="18288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cap="all" spc="120">
                <a:solidFill>
                  <a:srgbClr val="0F2C4C"/>
                </a:solidFill>
                <a:latin typeface="Arial"/>
              </a:rPr>
              <a:t>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64208"/>
            <a:ext cx="3474720" cy="2798064"/>
          </a:xfrm>
          <a:prstGeom prst="roundRect">
            <a:avLst>
              <a:gd name="adj" fmla="val 2287"/>
            </a:avLst>
          </a:prstGeom>
          <a:noFill/>
          <a:ln>
            <a:noFill/>
          </a:ln>
          <a:effectLst/>
        </p:spPr>
        <p:txBody>
          <a:bodyPr rtlCol="0" anchor="ctr" wrap="square" lIns="237744" tIns="182880" rIns="219456" bIns="182880">
            <a:noAutofit/>
          </a:bodyPr>
          <a:lstStyle/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400"/>
              </a:spcAft>
              <a:buClr>
                <a:srgbClr val="29B8D8"/>
              </a:buClr>
              <a:buChar char="•"/>
              <a:buFont typeface="Arial"/>
            </a:pPr>
            <a:r>
              <a:rPr sz="1150" b="0" i="0">
                <a:solidFill>
                  <a:srgbClr val="D5E2EC"/>
                </a:solidFill>
                <a:latin typeface="Arial"/>
              </a:rPr>
              <a:t>AI-assisted extraction of task-level change from process design docs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400"/>
              </a:spcAft>
              <a:buClr>
                <a:srgbClr val="29B8D8"/>
              </a:buClr>
              <a:buChar char="•"/>
              <a:buFont typeface="Arial"/>
            </a:pPr>
            <a:r>
              <a:rPr sz="1150" b="0" i="0">
                <a:solidFill>
                  <a:srgbClr val="D5E2EC"/>
                </a:solidFill>
                <a:latin typeface="Arial"/>
              </a:rPr>
              <a:t>Scoring model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400"/>
              </a:spcAft>
              <a:buClr>
                <a:srgbClr val="29B8D8"/>
              </a:buClr>
              <a:buChar char="•"/>
              <a:buFont typeface="Arial"/>
            </a:pPr>
            <a:r>
              <a:rPr sz="1150" b="0" i="0">
                <a:solidFill>
                  <a:srgbClr val="D5E2EC"/>
                </a:solidFill>
                <a:latin typeface="Arial"/>
              </a:rPr>
              <a:t>Intervention rules library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207008"/>
            <a:ext cx="3410712" cy="3255264"/>
          </a:xfrm>
          <a:prstGeom prst="roundRect">
            <a:avLst>
              <a:gd name="adj" fmla="val 1685"/>
            </a:avLst>
          </a:prstGeom>
          <a:solidFill>
            <a:srgbClr val="FFFFFF"/>
          </a:solidFill>
          <a:ln w="22225">
            <a:solidFill>
              <a:srgbClr val="29B8D8"/>
            </a:solidFill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207008"/>
            <a:ext cx="3410712" cy="457200"/>
          </a:xfrm>
          <a:prstGeom prst="rect">
            <a:avLst/>
          </a:prstGeom>
          <a:solidFill>
            <a:srgbClr val="0E7F9C"/>
          </a:solidFill>
          <a:ln>
            <a:noFill/>
          </a:ln>
          <a:effectLst/>
        </p:spPr>
        <p:txBody>
          <a:bodyPr rtlCol="0" anchor="ctr" wrap="square" lIns="182880" rIns="18288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cap="all" spc="120">
                <a:solidFill>
                  <a:srgbClr val="FFFFFF"/>
                </a:solidFill>
                <a:latin typeface="Arial"/>
              </a:rPr>
              <a:t>Outputs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664208"/>
            <a:ext cx="3410712" cy="2798064"/>
          </a:xfrm>
          <a:prstGeom prst="roundRect">
            <a:avLst>
              <a:gd name="adj" fmla="val 2287"/>
            </a:avLst>
          </a:prstGeom>
          <a:noFill/>
          <a:ln>
            <a:noFill/>
          </a:ln>
          <a:effectLst/>
        </p:spPr>
        <p:txBody>
          <a:bodyPr rtlCol="0" anchor="ctr" wrap="square" lIns="237744" tIns="182880" rIns="219456" bIns="182880">
            <a:noAutofit/>
          </a:bodyPr>
          <a:lstStyle/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400"/>
              </a:spcAft>
              <a:buClr>
                <a:srgbClr val="29B8D8"/>
              </a:buClr>
              <a:buChar char="•"/>
              <a:buFont typeface="Arial"/>
            </a:pPr>
            <a:r>
              <a:rPr sz="1150" b="0" i="0">
                <a:solidFill>
                  <a:srgbClr val="1F2933"/>
                </a:solidFill>
                <a:latin typeface="Arial"/>
              </a:rPr>
              <a:t>Impact heat map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400"/>
              </a:spcAft>
              <a:buClr>
                <a:srgbClr val="29B8D8"/>
              </a:buClr>
              <a:buChar char="•"/>
              <a:buFont typeface="Arial"/>
            </a:pPr>
            <a:r>
              <a:rPr sz="1150" b="0" i="0">
                <a:solidFill>
                  <a:srgbClr val="1F2933"/>
                </a:solidFill>
                <a:latin typeface="Arial"/>
              </a:rPr>
              <a:t>Role change one-pagers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400"/>
              </a:spcAft>
              <a:buClr>
                <a:srgbClr val="29B8D8"/>
              </a:buClr>
              <a:buChar char="•"/>
              <a:buFont typeface="Arial"/>
            </a:pPr>
            <a:r>
              <a:rPr sz="1150" b="0" i="0">
                <a:solidFill>
                  <a:srgbClr val="1F2933"/>
                </a:solidFill>
                <a:latin typeface="Arial"/>
              </a:rPr>
              <a:t>Costed intervention plan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400"/>
              </a:spcAft>
              <a:buClr>
                <a:srgbClr val="29B8D8"/>
              </a:buClr>
              <a:buChar char="•"/>
              <a:buFont typeface="Arial"/>
            </a:pPr>
            <a:r>
              <a:rPr sz="1150" b="0" i="0">
                <a:solidFill>
                  <a:srgbClr val="1F2933"/>
                </a:solidFill>
                <a:latin typeface="Arial"/>
              </a:rPr>
              <a:t>Go-live readiness dashboard by site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968496" y="2715768"/>
            <a:ext cx="274320" cy="237744"/>
          </a:xfrm>
          <a:prstGeom prst="rightArrow">
            <a:avLst/>
          </a:prstGeom>
          <a:solidFill>
            <a:srgbClr val="29B8D8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7863840" y="2715768"/>
            <a:ext cx="274320" cy="237744"/>
          </a:xfrm>
          <a:prstGeom prst="rightArrow">
            <a:avLst/>
          </a:prstGeom>
          <a:solidFill>
            <a:srgbClr val="29B8D8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4645152"/>
            <a:ext cx="11094415" cy="1170432"/>
          </a:xfrm>
          <a:prstGeom prst="roundRect">
            <a:avLst>
              <a:gd name="adj" fmla="val 4687"/>
            </a:avLst>
          </a:prstGeom>
          <a:solidFill>
            <a:srgbClr val="F2F4F6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645152"/>
            <a:ext cx="50292" cy="1170432"/>
          </a:xfrm>
          <a:prstGeom prst="rect">
            <a:avLst/>
          </a:prstGeom>
          <a:solidFill>
            <a:srgbClr val="29B8D8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8932" y="4645152"/>
            <a:ext cx="11044123" cy="1170432"/>
          </a:xfrm>
          <a:prstGeom prst="roundRect">
            <a:avLst>
              <a:gd name="adj" fmla="val 5468"/>
            </a:avLst>
          </a:prstGeom>
          <a:noFill/>
          <a:ln>
            <a:noFill/>
          </a:ln>
          <a:effectLst/>
        </p:spPr>
        <p:txBody>
          <a:bodyPr rtlCol="0" anchor="ctr" wrap="square" lIns="292608" tIns="128016" rIns="292608" bIns="10972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950" b="1" i="0" cap="all" spc="120">
                <a:solidFill>
                  <a:srgbClr val="0E7F9C"/>
                </a:solidFill>
                <a:latin typeface="Arial"/>
              </a:rPr>
              <a:t>The readiness pulse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F2933"/>
                </a:solidFill>
                <a:latin typeface="Arial"/>
              </a:rPr>
              <a:t>12 questions across understanding, capability confidence, decision-rights comfort, and local support — keyed to the same taxonomy, so live survey data drops straight into the model.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2C4C"/>
                </a:solidFill>
                <a:latin typeface="Arial"/>
              </a:rPr>
              <a:t>Deployed three ways: </a:t>
            </a:r>
            <a:r>
              <a:rPr sz="1200" b="0" i="0">
                <a:solidFill>
                  <a:srgbClr val="1F2933"/>
                </a:solidFill>
                <a:latin typeface="Arial"/>
              </a:rPr>
              <a:t>email at HQ · shift-huddle QR code in plants · manager-led for supervisors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512064"/>
          </a:xfrm>
          <a:prstGeom prst="rect">
            <a:avLst/>
          </a:prstGeom>
          <a:noFill/>
        </p:spPr>
        <p:txBody>
          <a:bodyPr wrap="square" anchor="b" lIns="0" tIns="0" r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F2C4C"/>
                </a:solidFill>
                <a:latin typeface="Arial"/>
              </a:rPr>
              <a:t>What happens in week 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94415" cy="38404"/>
          </a:xfrm>
          <a:prstGeom prst="rect">
            <a:avLst/>
          </a:prstGeom>
          <a:solidFill>
            <a:srgbClr val="29B8D8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64224"/>
            <a:ext cx="457200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39B"/>
                </a:solidFill>
                <a:latin typeface="Arial"/>
              </a:rPr>
              <a:t>Aberdeen Advisors  |  Team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364224"/>
            <a:ext cx="182880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39B"/>
                </a:solidFill>
                <a:latin typeface="Arial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658368" cy="658368"/>
          </a:xfrm>
          <a:prstGeom prst="roundRect">
            <a:avLst>
              <a:gd name="adj" fmla="val 9722"/>
            </a:avLst>
          </a:prstGeom>
          <a:solidFill>
            <a:srgbClr val="0F2C4C"/>
          </a:solidFill>
          <a:ln>
            <a:noFill/>
          </a:ln>
          <a:effectLst/>
        </p:spPr>
        <p:txBody>
          <a:bodyPr rtlCol="0" anchor="ctr" wrap="square" lIns="18288" tIns="18288" rIns="18288" bIns="18288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35024" y="1188720"/>
            <a:ext cx="10308031" cy="658368"/>
          </a:xfrm>
          <a:prstGeom prst="roundRect">
            <a:avLst>
              <a:gd name="adj" fmla="val 8333"/>
            </a:avLst>
          </a:prstGeom>
          <a:solidFill>
            <a:srgbClr val="F2F4F6"/>
          </a:solidFill>
          <a:ln>
            <a:noFill/>
          </a:ln>
          <a:effectLst/>
        </p:spPr>
        <p:txBody>
          <a:bodyPr rtlCol="0" anchor="ctr" wrap="square" lIns="274320" tIns="54864" rIns="274320" bIns="5486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Arial"/>
              </a:rPr>
              <a:t>Load the to-be process designs and HRIS extract — the grid populates itself.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79676"/>
            <a:ext cx="658368" cy="658368"/>
          </a:xfrm>
          <a:prstGeom prst="roundRect">
            <a:avLst>
              <a:gd name="adj" fmla="val 9722"/>
            </a:avLst>
          </a:prstGeom>
          <a:solidFill>
            <a:srgbClr val="0F2C4C"/>
          </a:solidFill>
          <a:ln>
            <a:noFill/>
          </a:ln>
          <a:effectLst/>
        </p:spPr>
        <p:txBody>
          <a:bodyPr rtlCol="0" anchor="ctr" wrap="square" lIns="18288" tIns="18288" rIns="18288" bIns="18288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35024" y="1979676"/>
            <a:ext cx="10308031" cy="658368"/>
          </a:xfrm>
          <a:prstGeom prst="roundRect">
            <a:avLst>
              <a:gd name="adj" fmla="val 8333"/>
            </a:avLst>
          </a:prstGeom>
          <a:solidFill>
            <a:srgbClr val="F2F4F6"/>
          </a:solidFill>
          <a:ln>
            <a:noFill/>
          </a:ln>
          <a:effectLst/>
        </p:spPr>
        <p:txBody>
          <a:bodyPr rtlCol="0" anchor="ctr" wrap="square" lIns="274320" tIns="54864" rIns="274320" bIns="5486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Arial"/>
              </a:rPr>
              <a:t>Run the readiness pulse; 5 working days, 3 channels.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70632"/>
            <a:ext cx="658368" cy="658368"/>
          </a:xfrm>
          <a:prstGeom prst="roundRect">
            <a:avLst>
              <a:gd name="adj" fmla="val 9722"/>
            </a:avLst>
          </a:prstGeom>
          <a:solidFill>
            <a:srgbClr val="0F2C4C"/>
          </a:solidFill>
          <a:ln>
            <a:noFill/>
          </a:ln>
          <a:effectLst/>
        </p:spPr>
        <p:txBody>
          <a:bodyPr rtlCol="0" anchor="ctr" wrap="square" lIns="18288" tIns="18288" rIns="18288" bIns="18288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35024" y="2770632"/>
            <a:ext cx="10308031" cy="658368"/>
          </a:xfrm>
          <a:prstGeom prst="roundRect">
            <a:avLst>
              <a:gd name="adj" fmla="val 8333"/>
            </a:avLst>
          </a:prstGeom>
          <a:solidFill>
            <a:srgbClr val="F2F4F6"/>
          </a:solidFill>
          <a:ln>
            <a:noFill/>
          </a:ln>
          <a:effectLst/>
        </p:spPr>
        <p:txBody>
          <a:bodyPr rtlCol="0" anchor="ctr" wrap="square" lIns="274320" tIns="54864" rIns="274320" bIns="5486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Arial"/>
              </a:rPr>
              <a:t>Validate the 9 Rebuild roles with site leadership — 90 minutes per site.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61587"/>
            <a:ext cx="658368" cy="658368"/>
          </a:xfrm>
          <a:prstGeom prst="roundRect">
            <a:avLst>
              <a:gd name="adj" fmla="val 9722"/>
            </a:avLst>
          </a:prstGeom>
          <a:solidFill>
            <a:srgbClr val="0F2C4C"/>
          </a:solidFill>
          <a:ln>
            <a:noFill/>
          </a:ln>
          <a:effectLst/>
        </p:spPr>
        <p:txBody>
          <a:bodyPr rtlCol="0" anchor="ctr" wrap="square" lIns="18288" tIns="18288" rIns="18288" bIns="18288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35024" y="3561587"/>
            <a:ext cx="10308031" cy="658368"/>
          </a:xfrm>
          <a:prstGeom prst="roundRect">
            <a:avLst>
              <a:gd name="adj" fmla="val 8333"/>
            </a:avLst>
          </a:prstGeom>
          <a:solidFill>
            <a:srgbClr val="F2F4F6"/>
          </a:solidFill>
          <a:ln>
            <a:noFill/>
          </a:ln>
          <a:effectLst/>
        </p:spPr>
        <p:txBody>
          <a:bodyPr rtlCol="0" anchor="ctr" wrap="square" lIns="274320" tIns="54864" rIns="274320" bIns="5486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Arial"/>
              </a:rPr>
              <a:t>Lock the intervention plan and its cost; hand training a curriculum list, not a module list.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52544"/>
            <a:ext cx="658368" cy="658368"/>
          </a:xfrm>
          <a:prstGeom prst="roundRect">
            <a:avLst>
              <a:gd name="adj" fmla="val 9722"/>
            </a:avLst>
          </a:prstGeom>
          <a:solidFill>
            <a:srgbClr val="0F2C4C"/>
          </a:solidFill>
          <a:ln>
            <a:noFill/>
          </a:ln>
          <a:effectLst/>
        </p:spPr>
        <p:txBody>
          <a:bodyPr rtlCol="0" anchor="ctr" wrap="square" lIns="18288" tIns="18288" rIns="18288" bIns="18288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35024" y="4352544"/>
            <a:ext cx="10308031" cy="658368"/>
          </a:xfrm>
          <a:prstGeom prst="roundRect">
            <a:avLst>
              <a:gd name="adj" fmla="val 8333"/>
            </a:avLst>
          </a:prstGeom>
          <a:solidFill>
            <a:srgbClr val="F2F4F6"/>
          </a:solidFill>
          <a:ln>
            <a:noFill/>
          </a:ln>
          <a:effectLst/>
        </p:spPr>
        <p:txBody>
          <a:bodyPr rtlCol="0" anchor="ctr" wrap="square" lIns="274320" tIns="54864" rIns="274320" bIns="5486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Arial"/>
              </a:rPr>
              <a:t>Re-score at 30-day intervals; the dashboard becomes the go-live gate.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289804"/>
            <a:ext cx="11094415" cy="804672"/>
          </a:xfrm>
          <a:prstGeom prst="roundRect">
            <a:avLst>
              <a:gd name="adj" fmla="val 6818"/>
            </a:avLst>
          </a:prstGeom>
          <a:solidFill>
            <a:srgbClr val="0F2C4C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289804"/>
            <a:ext cx="50292" cy="804672"/>
          </a:xfrm>
          <a:prstGeom prst="rect">
            <a:avLst/>
          </a:prstGeom>
          <a:solidFill>
            <a:srgbClr val="29B8D8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8932" y="5289804"/>
            <a:ext cx="11044123" cy="804672"/>
          </a:xfrm>
          <a:prstGeom prst="roundRect">
            <a:avLst>
              <a:gd name="adj" fmla="val 7954"/>
            </a:avLst>
          </a:prstGeom>
          <a:noFill/>
          <a:ln>
            <a:noFill/>
          </a:ln>
          <a:effectLst/>
        </p:spPr>
        <p:txBody>
          <a:bodyPr rtlCol="0" anchor="ctr" wrap="square" lIns="292608" tIns="54864" rIns="292608" bIns="5486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7D5E0"/>
                </a:solidFill>
                <a:latin typeface="Arial"/>
              </a:rPr>
              <a:t>Leadership stops asking </a:t>
            </a:r>
            <a:r>
              <a:rPr sz="1500" b="1" i="0">
                <a:solidFill>
                  <a:srgbClr val="FFFFFF"/>
                </a:solidFill>
                <a:latin typeface="Arial"/>
              </a:rPr>
              <a:t>“are we ready?”</a:t>
            </a:r>
            <a:r>
              <a:rPr sz="1500" b="0" i="0">
                <a:solidFill>
                  <a:srgbClr val="C7D5E0"/>
                </a:solidFill>
                <a:latin typeface="Arial"/>
              </a:rPr>
              <a:t> and starts asking </a:t>
            </a:r>
            <a:r>
              <a:rPr sz="1500" b="1" i="0">
                <a:solidFill>
                  <a:srgbClr val="29B8D8"/>
                </a:solidFill>
                <a:latin typeface="Arial"/>
              </a:rPr>
              <a:t>“which of these 9 roles is still red?”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